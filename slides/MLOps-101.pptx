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21"/>
    <p:sldId id="271" r:id="rId22"/>
    <p:sldId id="272" r:id="rId23"/>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  <Relationship Id="rId21" Type="http://schemas.openxmlformats.org/officeDocument/2006/relationships/slide" Target="slides/slide15.xml"/>
  <Relationship Id="rId22" Type="http://schemas.openxmlformats.org/officeDocument/2006/relationships/slide" Target="slides/slide16.xml"/>
  <Relationship Id="rId23" Type="http://schemas.openxmlformats.org/officeDocument/2006/relationships/slide" Target="slides/slide17.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we move from training models to running them. Everything you have built so far in this course lives in a notebook. This week is about what happens next: packaging, deploying, monitoring and retraining a model. We will use one small, simple example all the way through: an SMS spam classifier.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you trained a great model in Colab. Now what? How does a real user, or another app, use it tomorrow? What happens in six months when the data changes? MLOps is the set of practices that answers those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field had its own evolution. Software engineering went from punch cards to Git. DevOps went from editing code live on a server to containers and GitOps. Machine learning went from curve fitting to deep learning. MLOps is the convergence: apply the discipline of software and DevOps to models and data. Reference: ml-ops.org.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requirements come from the MLOps community (mlops.community). A quick test for students: could you rebuild the model you trained last month, exactly? Do you know which dataset version produced it? If not, it is not reproducible or accountable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simplified version of CRISP-DM (business understanding, data understanding, preparation, modeling, evaluation, deployment). In a class we usually stop at step 3. In industry, steps 4 and 5 are where most of the time goes, and step 5 sends you back to step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is intentionally tiny so we can focus on operations, not modeling. Lab 1: python train_model.py v1 trains on the 1k dataset, v2 on the 4k dataset. Each run saves trained_model_v1.pkl or trained_model_v2.pkl. The same model file is later reused by the Docker app, IBM Code Engine and Azure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Balanced Model Challenge in the lab. With ~88% ham, a model that always says ham scores high accuracy while catching zero spam (majority class bias). v3 uses a synthetic balanced dataset whose features are also more separated (ham mean length 50, spam mean length 150), which is why it looks so good; real data is rarely that clean. Discussion: is it easier to synthesize data or to re-weight the existing imbalanced data? Why it matters for MLOps: an automated quality gate that only checks accuracy would happily promote 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Microsoft’s MLOps maturity model. Real projects rarely go straight from notebook to production; they mature in stages. Our serverless step uses two platforms: IBM Code Engine and Azure Functions. Level 4, monitoring plus automated retraining, is the direction the final slides point to. In this week's notebooks, mlops_pipeline.ipynb builds every Level 4 piece in miniature (registry, gate, pipeline, monitoring, a weekly job); what is still missing for real Level 4 is the plumbing: a scheduler, CI/CD and alerts.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Dockerfile is the recipe; the image is the packaged result; a container is a running copy. The same image can go to a cloud VM or to Kubernetes (the repo has a k3d/k3s guide with deployment.yaml and service.yaml). Kubernetes adds scaling and self-healing on top of containers.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model file, three hosting choices. The serverless version exposes two HTTP endpoints, classify and health, which we test with Postman. Trade-off to discuss: serverless scales to zero and costs nothing when idle, but can have cold starts; a VM is always on and always billed. The bottom line shows the idea of a model API: JSON in, prediction out. Exact field names depend on the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src/mlops_pipeline.py in the repo. It merges the original 1k dataset with new incoming data, retrains, evaluates on a held-out set, saves spam_model_YYYYMMDD_HHMMSS.pkl, and only overwrites spam_model.pkl if the gate passes. Question for the class: remember slide 7. Is accuracy alone a good gate? (No: add recall or F1 for the spam class.) In production this runs automatically when new data lands or code is merged to main (CI/CD). The repo's first pipeline used accuracy only. In the lab, students see their v1 pass that gate (85.6% accuracy, 4% recall) and then add the recall rule shown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Avoid a “big bang” replacement. Shadow is the recommended first step in our repo docs: compare the new model’s predictions with the current one on real traffic before anyone depends on it. The canary name comes from coal miners’ canaries: a small early warning. Blue/green keeps the old version warm so rollback is just pointing the router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deployed model is trained on the past but used in the future. Data drift: the distribution of inputs shifts. Concept drift: the relationship between inputs and the label shifts. Alerts (Slack, PagerDuty) can kick off the retraining pipeline from slide 11. Git versions code, but you also need to know which dataset version produced which model: that is what DVC or Delta Lake add. Feature stores keep feature logic the same in training and serving.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four points, then hand off to the lab. Lab steps: python train_model.py v1, then v2, then generate_balanced_data.py and train v3. Discussion questions: why did accuracy jump for v3, and is it easier to synthesize data or re-weight existing imbalanced data? Stretch goal: build and run the Docker image, or deploy the serverless version. The notebooks are in lab-mlops-101: train_model.ipynb first, then mlops_basics.ipynb or mlops_pipeline.ipynb. The command-line version of the lab (IN_CLASS_LAB.md) covers the same story with scripts.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comes from train_model.ipynb, section A4. Walk through the 10-message example: 3 spam caught (TP), 1 missed (FN), 2 real messages flagged (FP), 4 real messages delivered (TN). Accuracy counts every right answer; precision asks how often a spam flag is right; recall asks how much spam we caught; F1 is only high when both are. The bottom line previews the notebook's deep dive (A7): the model outputs a probability, and moving the threshold trades recall for precision. Ask: for a spam filter, which mistake is worse, a lost job offer or one more scam? Most people pick precision, so a higher threshold. A cancer screen or a fraud detector would pick recall.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week's hands-on part is three notebooks in lab-mlops-101, each with a Starter section (TODOs) and a Solution section. Everyone runs python make_data.py, then train_model.ipynb, which saves v1 and v2 with model cards. Then students pick one: mlops_basics.ipynb covers the five big steps with one-line TODOs and plain-language explanations, for students new to data science; mlops_pipeline.ipynb is the full version following slides 4 to 13. The notebooks write to their own folders, so they never interfere with the command-line lab in IN_CLASS_LAB.md.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numbers from the notebooks (the data has a fixed seed, so every student sees the same). Left: the student's own v1 passes an accuracy-only gate at 85.6% while catching 3 of 75 spam. That is slide 7's lesson happening inside an automated pipeline. Right: in the drift week, average message length drops 53% and the production model's recall falls to 1.6%; the drift check fires before anyone labels a message. Also in the lab: the bad-data week gets through the accuracy gate (recall 12%), students roll back in one line, the recall rule blocks it, and shadow mode flags it because the candidate calls 1.8% of messages spam against 15.6% for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8" y="1127720"/>
            <a:ext cx="10566390" cy="502912"/>
          </a:xfrm>
          <a:prstGeom prst="rect">
            <a:avLst/>
          </a:prstGeom>
          <a:noFill/>
          <a:ln/>
        </p:spPr>
        <p:txBody>
          <a:bodyPr wrap="square" lIns="0" tIns="0" rIns="0" bIns="0" rtlCol="0" anchor="t"/>
          <a:lstStyle>
            <a:lvl1pPr algn="l" indent="0" marL="0">
              <a:lnSpc>
                <a:spcPct val="115000"/>
              </a:lnSpc>
              <a:buNone/>
              <a:defRPr lang="en-US" sz="3600" dirty="0">
                <a:solidFill>
                  <a:srgbClr val="1D1B18"/>
                </a:solidFill>
                <a:latin typeface="DM Sans" pitchFamily="34" charset="0"/>
                <a:ea typeface="DM Sans" pitchFamily="34" charset="-122"/>
                <a:cs typeface="DM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788" y="1935432"/>
            <a:ext cx="10566412" cy="4109768"/>
          </a:xfrm>
          <a:prstGeom prst="rect">
            <a:avLst/>
          </a:prstGeom>
          <a:noFill/>
          <a:ln/>
        </p:spPr>
        <p:txBody>
          <a:bodyPr wrap="square" lIns="0" tIns="0" rIns="0" bIns="0" rtlCol="0" anchor="t"/>
          <a:lstStyle>
            <a:lvl1pPr algn="l" indent="0" marL="0">
              <a:lnSpc>
                <a:spcPct val="140000"/>
              </a:lnSpc>
              <a:buNone/>
              <a:defRPr lang="en-US" sz="1600" dirty="0">
                <a:solidFill>
                  <a:srgbClr val="1D1B18"/>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8" y="1127720"/>
            <a:ext cx="10566390" cy="502912"/>
          </a:xfrm>
          <a:prstGeom prst="rect">
            <a:avLst/>
          </a:prstGeom>
          <a:noFill/>
          <a:ln/>
        </p:spPr>
        <p:txBody>
          <a:bodyPr wrap="square" lIns="0" tIns="0" rIns="0" bIns="0" rtlCol="0" anchor="t"/>
          <a:lstStyle>
            <a:lvl1pPr algn="l" indent="0" marL="0">
              <a:lnSpc>
                <a:spcPct val="115000"/>
              </a:lnSpc>
              <a:buNone/>
              <a:defRPr lang="en-US" sz="3600" dirty="0">
                <a:solidFill>
                  <a:srgbClr val="1D1B18"/>
                </a:solidFill>
                <a:latin typeface="DM Sans" pitchFamily="34" charset="0"/>
                <a:ea typeface="DM Sans" pitchFamily="34" charset="-122"/>
                <a:cs typeface="DM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788" y="1935432"/>
            <a:ext cx="10566412" cy="4109768"/>
          </a:xfrm>
          <a:prstGeom prst="rect">
            <a:avLst/>
          </a:prstGeom>
          <a:noFill/>
          <a:ln/>
        </p:spPr>
        <p:txBody>
          <a:bodyPr wrap="square" lIns="0" tIns="0" rIns="0" bIns="0" rtlCol="0" anchor="t"/>
          <a:lstStyle>
            <a:lvl1pPr algn="l" indent="0" marL="0">
              <a:lnSpc>
                <a:spcPct val="140000"/>
              </a:lnSpc>
              <a:buNone/>
              <a:defRPr lang="en-US" sz="1600" dirty="0">
                <a:solidFill>
                  <a:srgbClr val="1D1B18"/>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Notes"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1.png"/><Relationship Id="rId3" Type="http://schemas.openxmlformats.org/officeDocument/2006/relationships/image" Target="../media/image-3-1.png"/><Relationship Id="rId4" Type="http://schemas.openxmlformats.org/officeDocument/2006/relationships/slideLayout" Target="../slideLayouts/slideLayout2.xml"/><Relationship Id="rIdNotes"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Notes"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1B18"/>
        </a:solidFill>
      </p:bgPr>
    </p:bg>
    <p:spTree>
      <p:nvGrpSpPr>
        <p:cNvPr id="1" name=""/>
        <p:cNvGrpSpPr/>
        <p:nvPr/>
      </p:nvGrpSpPr>
      <p:grpSpPr>
        <a:xfrm>
          <a:off x="0" y="0"/>
          <a:ext cx="0" cy="0"/>
          <a:chOff x="0" y="0"/>
          <a:chExt cx="0" cy="0"/>
        </a:xfrm>
      </p:grpSpPr>
      <p:sp>
        <p:nvSpPr>
          <p:cNvPr id="2" name="Text 0"/>
          <p:cNvSpPr/>
          <p:nvPr/>
        </p:nvSpPr>
        <p:spPr>
          <a:xfrm>
            <a:off x="812788" y="812788"/>
            <a:ext cx="1088338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CFB87C"/>
                </a:solidFill>
                <a:latin typeface="DM Sans" pitchFamily="34" charset="0"/>
                <a:ea typeface="DM Sans" pitchFamily="34" charset="-122"/>
                <a:cs typeface="DM Sans" pitchFamily="34" charset="-120"/>
              </a:rPr>
              <a:t>5350 APPLIED DEEP LEARNING · WEEK 9</a:t>
            </a:r>
            <a:endParaRPr lang="en-US" sz="1400" dirty="0"/>
          </a:p>
        </p:txBody>
      </p:sp>
      <p:sp>
        <p:nvSpPr>
          <p:cNvPr id="3" name="Shape 1"/>
          <p:cNvSpPr/>
          <p:nvPr/>
        </p:nvSpPr>
        <p:spPr>
          <a:xfrm>
            <a:off x="812788" y="2485423"/>
            <a:ext cx="1015975" cy="50797"/>
          </a:xfrm>
          <a:prstGeom prst="rect">
            <a:avLst/>
          </a:prstGeom>
          <a:solidFill>
            <a:srgbClr val="CFB87C"/>
          </a:solidFill>
          <a:ln/>
        </p:spPr>
      </p:sp>
      <p:sp>
        <p:nvSpPr>
          <p:cNvPr id="4" name="Text 2"/>
          <p:cNvSpPr/>
          <p:nvPr>
            <p:ph type="title"/>
          </p:nvPr>
        </p:nvSpPr>
        <p:spPr>
          <a:xfrm>
            <a:off x="812788" y="2739408"/>
            <a:ext cx="10883382" cy="1092210"/>
          </a:xfrm>
          <a:prstGeom prst="rect">
            <a:avLst/>
          </a:prstGeom>
          <a:noFill/>
          <a:ln/>
        </p:spPr>
        <p:txBody>
          <a:bodyPr wrap="square" lIns="0" tIns="0" rIns="0" bIns="0" rtlCol="0" anchor="t">
            <a:normAutofit/>
          </a:bodyPr>
          <a:lstStyle/>
          <a:p>
            <a:pPr algn="l" indent="0" marL="0">
              <a:lnSpc>
                <a:spcPts val="8400"/>
              </a:lnSpc>
              <a:buNone/>
            </a:pPr>
            <a:r>
              <a:rPr lang="en-US" sz="8000" b="1" i="0" dirty="0">
                <a:solidFill>
                  <a:srgbClr val="F7F5EF"/>
                </a:solidFill>
                <a:latin typeface="DM Sans" pitchFamily="34" charset="0"/>
                <a:ea typeface="DM Sans" pitchFamily="34" charset="-122"/>
                <a:cs typeface="DM Sans" pitchFamily="34" charset="-120"/>
              </a:rPr>
              <a:t>MLOps</a:t>
            </a:r>
            <a:endParaRPr lang="en-US" sz="8000" dirty="0"/>
          </a:p>
        </p:txBody>
      </p:sp>
      <p:sp>
        <p:nvSpPr>
          <p:cNvPr id="5" name="Text 3"/>
          <p:cNvSpPr/>
          <p:nvPr/>
        </p:nvSpPr>
        <p:spPr>
          <a:xfrm>
            <a:off x="812788" y="4009405"/>
            <a:ext cx="10883382" cy="388564"/>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FC8B8"/>
                </a:solidFill>
                <a:latin typeface="DM Sans" pitchFamily="34" charset="0"/>
                <a:ea typeface="DM Sans" pitchFamily="34" charset="-122"/>
                <a:cs typeface="DM Sans" pitchFamily="34" charset="-120"/>
              </a:rPr>
              <a:t>How a trained model becomes something people can actually use</a:t>
            </a:r>
            <a:endParaRPr lang="en-US" sz="2200" dirty="0"/>
          </a:p>
        </p:txBody>
      </p:sp>
      <p:sp>
        <p:nvSpPr>
          <p:cNvPr id="6" name="Text 4"/>
          <p:cNvSpPr/>
          <p:nvPr/>
        </p:nvSpPr>
        <p:spPr>
          <a:xfrm>
            <a:off x="812788" y="5796315"/>
            <a:ext cx="1088338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FC8B8"/>
                </a:solidFill>
                <a:latin typeface="DM Sans" pitchFamily="34" charset="0"/>
                <a:ea typeface="DM Sans" pitchFamily="34" charset="-122"/>
                <a:cs typeface="DM Sans" pitchFamily="34" charset="-120"/>
              </a:rPr>
              <a:t>Ivan Portilla · University of Colorado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CFB87C"/>
        </a:solidFill>
      </p:bgPr>
    </p:bg>
    <p:spTree>
      <p:nvGrpSpPr>
        <p:cNvPr id="1" name=""/>
        <p:cNvGrpSpPr/>
        <p:nvPr/>
      </p:nvGrpSpPr>
      <p:grpSpPr>
        <a:xfrm>
          <a:off x="0" y="0"/>
          <a:ext cx="0" cy="0"/>
          <a:chOff x="0" y="0"/>
          <a:chExt cx="0" cy="0"/>
        </a:xfrm>
      </p:grpSpPr>
      <p:sp>
        <p:nvSpPr>
          <p:cNvPr id="2" name="Text 0"/>
          <p:cNvSpPr/>
          <p:nvPr/>
        </p:nvSpPr>
        <p:spPr>
          <a:xfrm>
            <a:off x="812788" y="1734943"/>
            <a:ext cx="1088338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1D1B18"/>
                </a:solidFill>
                <a:latin typeface="DM Sans" pitchFamily="34" charset="0"/>
                <a:ea typeface="DM Sans" pitchFamily="34" charset="-122"/>
                <a:cs typeface="DM Sans" pitchFamily="34" charset="-120"/>
              </a:rPr>
              <a:t>THE PROBLEM</a:t>
            </a:r>
            <a:endParaRPr lang="en-US" sz="1400" dirty="0"/>
          </a:p>
        </p:txBody>
      </p:sp>
      <p:sp>
        <p:nvSpPr>
          <p:cNvPr id="3" name="Text 1"/>
          <p:cNvSpPr/>
          <p:nvPr>
            <p:ph type="title"/>
          </p:nvPr>
        </p:nvSpPr>
        <p:spPr>
          <a:xfrm>
            <a:off x="812788" y="2288614"/>
            <a:ext cx="10883382" cy="1625539"/>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1D1B18"/>
                </a:solidFill>
                <a:latin typeface="DM Sans" pitchFamily="34" charset="0"/>
                <a:ea typeface="DM Sans" pitchFamily="34" charset="-122"/>
                <a:cs typeface="DM Sans" pitchFamily="34" charset="-120"/>
              </a:rPr>
              <a:t>A model in a notebook helps no one.</a:t>
            </a:r>
            <a:endParaRPr lang="en-US" sz="6000" dirty="0"/>
          </a:p>
        </p:txBody>
      </p:sp>
      <p:sp>
        <p:nvSpPr>
          <p:cNvPr id="4" name="Text 2"/>
          <p:cNvSpPr/>
          <p:nvPr/>
        </p:nvSpPr>
        <p:spPr>
          <a:xfrm>
            <a:off x="812788" y="4193534"/>
            <a:ext cx="10883382" cy="751727"/>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2E2A22"/>
                </a:solidFill>
                <a:latin typeface="DM Sans" pitchFamily="34" charset="0"/>
                <a:ea typeface="DM Sans" pitchFamily="34" charset="-122"/>
                <a:cs typeface="DM Sans" pitchFamily="34" charset="-120"/>
              </a:rPr>
              <a:t>Training is only the start. The real work is shipping the model, keeping it running and keeping it accurate.</a:t>
            </a:r>
            <a:endParaRPr lang="en-US" sz="2200" dirty="0"/>
          </a:p>
        </p:txBody>
      </p:sp>
      <p:sp>
        <p:nvSpPr>
          <p:cNvPr id="5" name="Text 3"/>
          <p:cNvSpPr/>
          <p:nvPr/>
        </p:nvSpPr>
        <p:spPr>
          <a:xfrm>
            <a:off x="812788" y="6238278"/>
            <a:ext cx="6540485"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2A22"/>
                </a:solidFill>
                <a:latin typeface="DM Sans" pitchFamily="34" charset="0"/>
                <a:ea typeface="DM Sans" pitchFamily="34" charset="-122"/>
                <a:cs typeface="DM Sans" pitchFamily="34" charset="-120"/>
              </a:rPr>
              <a:t>5350 Applied Deep Learning · MLOps</a:t>
            </a:r>
            <a:endParaRPr lang="en-US" sz="1200" dirty="0"/>
          </a:p>
        </p:txBody>
      </p:sp>
      <p:sp>
        <p:nvSpPr>
          <p:cNvPr id="6" name="Text 4"/>
          <p:cNvSpPr/>
          <p:nvPr/>
        </p:nvSpPr>
        <p:spPr>
          <a:xfrm>
            <a:off x="10058381" y="6238278"/>
            <a:ext cx="1320797"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2E2A22"/>
                </a:solidFill>
                <a:latin typeface="DM Sans" pitchFamily="34" charset="0"/>
                <a:ea typeface="DM Sans" pitchFamily="34" charset="-122"/>
                <a:cs typeface="DM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A5C12"/>
                </a:solidFill>
                <a:latin typeface="DM Sans" pitchFamily="34" charset="0"/>
                <a:ea typeface="DM Sans" pitchFamily="34" charset="-122"/>
                <a:cs typeface="DM Sans" pitchFamily="34" charset="-120"/>
              </a:rPr>
              <a:t>WHAT IS MLOPS?</a:t>
            </a:r>
            <a:endParaRPr lang="en-US" sz="1200" dirty="0"/>
          </a:p>
        </p:txBody>
      </p:sp>
      <p:sp>
        <p:nvSpPr>
          <p:cNvPr id="3" name="Text 1"/>
          <p:cNvSpPr/>
          <p:nvPr>
            <p:ph type="title"/>
          </p:nvPr>
        </p:nvSpPr>
        <p:spPr>
          <a:xfrm>
            <a:off x="812788" y="1127720"/>
            <a:ext cx="10883382" cy="528312"/>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1B18"/>
                </a:solidFill>
                <a:latin typeface="DM Sans" pitchFamily="34" charset="0"/>
                <a:ea typeface="DM Sans" pitchFamily="34" charset="-122"/>
                <a:cs typeface="DM Sans" pitchFamily="34" charset="-120"/>
              </a:rPr>
              <a:t>MLOps is where three fields meet</a:t>
            </a:r>
            <a:endParaRPr lang="en-US" sz="3600" dirty="0"/>
          </a:p>
        </p:txBody>
      </p:sp>
      <p:sp>
        <p:nvSpPr>
          <p:cNvPr id="4" name="Shape 2"/>
          <p:cNvSpPr/>
          <p:nvPr/>
        </p:nvSpPr>
        <p:spPr>
          <a:xfrm>
            <a:off x="819138" y="1992561"/>
            <a:ext cx="3373972" cy="2289613"/>
          </a:xfrm>
          <a:prstGeom prst="roundRect">
            <a:avLst>
              <a:gd name="adj" fmla="val 5269"/>
            </a:avLst>
          </a:prstGeom>
          <a:solidFill>
            <a:srgbClr val="FFFDF8"/>
          </a:solidFill>
          <a:ln w="12700">
            <a:solidFill>
              <a:srgbClr val="E2DCCB"/>
            </a:solidFill>
            <a:prstDash val="solid"/>
          </a:ln>
        </p:spPr>
      </p:sp>
      <p:pic>
        <p:nvPicPr>
          <p:cNvPr id="5" name="Image 0" descr="Code">    </p:cNvPr>
          <p:cNvPicPr>
            <a:picLocks noChangeAspect="1"/>
          </p:cNvPicPr>
          <p:nvPr/>
        </p:nvPicPr>
        <p:blipFill>
          <a:blip r:embed="rId1"/>
          <a:srcRect l="0" r="0" t="0" b="0"/>
          <a:stretch/>
        </p:blipFill>
        <p:spPr>
          <a:xfrm>
            <a:off x="1078848" y="2252270"/>
            <a:ext cx="355578" cy="355578"/>
          </a:xfrm>
          <a:prstGeom prst="rect">
            <a:avLst/>
          </a:prstGeom>
        </p:spPr>
      </p:pic>
      <p:sp>
        <p:nvSpPr>
          <p:cNvPr id="6" name="Text 3"/>
          <p:cNvSpPr/>
          <p:nvPr/>
        </p:nvSpPr>
        <p:spPr>
          <a:xfrm>
            <a:off x="1078848" y="2709442"/>
            <a:ext cx="2940186" cy="667946"/>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D1B18"/>
                </a:solidFill>
                <a:latin typeface="DM Sans" pitchFamily="34" charset="0"/>
                <a:ea typeface="DM Sans" pitchFamily="34" charset="-122"/>
                <a:cs typeface="DM Sans" pitchFamily="34" charset="-120"/>
              </a:rPr>
              <a:t>Software engineering</a:t>
            </a:r>
            <a:endParaRPr lang="en-US" sz="2200" dirty="0"/>
          </a:p>
        </p:txBody>
      </p:sp>
      <p:sp>
        <p:nvSpPr>
          <p:cNvPr id="7" name="Text 4"/>
          <p:cNvSpPr/>
          <p:nvPr/>
        </p:nvSpPr>
        <p:spPr>
          <a:xfrm>
            <a:off x="1078848" y="3453583"/>
            <a:ext cx="2940186" cy="5942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63E"/>
                </a:solidFill>
                <a:latin typeface="DM Sans" pitchFamily="34" charset="0"/>
                <a:ea typeface="DM Sans" pitchFamily="34" charset="-122"/>
                <a:cs typeface="DM Sans" pitchFamily="34" charset="-120"/>
              </a:rPr>
              <a:t>Version control, tests and clean code. Git and GitHub.</a:t>
            </a:r>
            <a:endParaRPr lang="en-US" sz="1600" dirty="0"/>
          </a:p>
        </p:txBody>
      </p:sp>
      <p:sp>
        <p:nvSpPr>
          <p:cNvPr id="8" name="Shape 5"/>
          <p:cNvSpPr/>
          <p:nvPr/>
        </p:nvSpPr>
        <p:spPr>
          <a:xfrm>
            <a:off x="4408997" y="1992561"/>
            <a:ext cx="3373972" cy="2289613"/>
          </a:xfrm>
          <a:prstGeom prst="roundRect">
            <a:avLst>
              <a:gd name="adj" fmla="val 5269"/>
            </a:avLst>
          </a:prstGeom>
          <a:solidFill>
            <a:srgbClr val="FFFDF8"/>
          </a:solidFill>
          <a:ln w="12700">
            <a:solidFill>
              <a:srgbClr val="E2DCCB"/>
            </a:solidFill>
            <a:prstDash val="solid"/>
          </a:ln>
        </p:spPr>
      </p:sp>
      <p:pic>
        <p:nvPicPr>
          <p:cNvPr id="9" name="Image 1" descr="Cloud">    </p:cNvPr>
          <p:cNvPicPr>
            <a:picLocks noChangeAspect="1"/>
          </p:cNvPicPr>
          <p:nvPr/>
        </p:nvPicPr>
        <p:blipFill>
          <a:blip r:embed="rId2"/>
          <a:srcRect l="0" r="0" t="0" b="0"/>
          <a:stretch/>
        </p:blipFill>
        <p:spPr>
          <a:xfrm>
            <a:off x="4668708" y="2252270"/>
            <a:ext cx="355578" cy="355578"/>
          </a:xfrm>
          <a:prstGeom prst="rect">
            <a:avLst/>
          </a:prstGeom>
        </p:spPr>
      </p:pic>
      <p:sp>
        <p:nvSpPr>
          <p:cNvPr id="10" name="Text 6"/>
          <p:cNvSpPr/>
          <p:nvPr/>
        </p:nvSpPr>
        <p:spPr>
          <a:xfrm>
            <a:off x="4668708" y="2709442"/>
            <a:ext cx="2940186" cy="346673"/>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D1B18"/>
                </a:solidFill>
                <a:latin typeface="DM Sans" pitchFamily="34" charset="0"/>
                <a:ea typeface="DM Sans" pitchFamily="34" charset="-122"/>
                <a:cs typeface="DM Sans" pitchFamily="34" charset="-120"/>
              </a:rPr>
              <a:t>DevOps</a:t>
            </a:r>
            <a:endParaRPr lang="en-US" sz="2200" dirty="0"/>
          </a:p>
        </p:txBody>
      </p:sp>
      <p:sp>
        <p:nvSpPr>
          <p:cNvPr id="11" name="Text 7"/>
          <p:cNvSpPr/>
          <p:nvPr/>
        </p:nvSpPr>
        <p:spPr>
          <a:xfrm>
            <a:off x="4668708" y="3132310"/>
            <a:ext cx="2940186" cy="5942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63E"/>
                </a:solidFill>
                <a:latin typeface="DM Sans" pitchFamily="34" charset="0"/>
                <a:ea typeface="DM Sans" pitchFamily="34" charset="-122"/>
                <a:cs typeface="DM Sans" pitchFamily="34" charset="-120"/>
              </a:rPr>
              <a:t>Automated build and deploy. Docker, Kubernetes, CI/CD.</a:t>
            </a:r>
            <a:endParaRPr lang="en-US" sz="1600" dirty="0"/>
          </a:p>
        </p:txBody>
      </p:sp>
      <p:sp>
        <p:nvSpPr>
          <p:cNvPr id="12" name="Shape 8"/>
          <p:cNvSpPr/>
          <p:nvPr/>
        </p:nvSpPr>
        <p:spPr>
          <a:xfrm>
            <a:off x="7998856" y="1992561"/>
            <a:ext cx="3373972" cy="2289613"/>
          </a:xfrm>
          <a:prstGeom prst="roundRect">
            <a:avLst>
              <a:gd name="adj" fmla="val 5269"/>
            </a:avLst>
          </a:prstGeom>
          <a:solidFill>
            <a:srgbClr val="FFFDF8"/>
          </a:solidFill>
          <a:ln w="12700">
            <a:solidFill>
              <a:srgbClr val="E2DCCB"/>
            </a:solidFill>
            <a:prstDash val="solid"/>
          </a:ln>
        </p:spPr>
      </p:sp>
      <p:pic>
        <p:nvPicPr>
          <p:cNvPr id="13" name="Image 2" descr="Lightbulb">    </p:cNvPr>
          <p:cNvPicPr>
            <a:picLocks noChangeAspect="1"/>
          </p:cNvPicPr>
          <p:nvPr/>
        </p:nvPicPr>
        <p:blipFill>
          <a:blip r:embed="rId3"/>
          <a:srcRect l="0" r="0" t="0" b="0"/>
          <a:stretch/>
        </p:blipFill>
        <p:spPr>
          <a:xfrm>
            <a:off x="8258566" y="2252270"/>
            <a:ext cx="355578" cy="355578"/>
          </a:xfrm>
          <a:prstGeom prst="rect">
            <a:avLst/>
          </a:prstGeom>
        </p:spPr>
      </p:pic>
      <p:sp>
        <p:nvSpPr>
          <p:cNvPr id="14" name="Text 9"/>
          <p:cNvSpPr/>
          <p:nvPr/>
        </p:nvSpPr>
        <p:spPr>
          <a:xfrm>
            <a:off x="8258566" y="2709442"/>
            <a:ext cx="2940186" cy="346673"/>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D1B18"/>
                </a:solidFill>
                <a:latin typeface="DM Sans" pitchFamily="34" charset="0"/>
                <a:ea typeface="DM Sans" pitchFamily="34" charset="-122"/>
                <a:cs typeface="DM Sans" pitchFamily="34" charset="-120"/>
              </a:rPr>
              <a:t>Machine learning</a:t>
            </a:r>
            <a:endParaRPr lang="en-US" sz="2200" dirty="0"/>
          </a:p>
        </p:txBody>
      </p:sp>
      <p:sp>
        <p:nvSpPr>
          <p:cNvPr id="15" name="Text 10"/>
          <p:cNvSpPr/>
          <p:nvPr/>
        </p:nvSpPr>
        <p:spPr>
          <a:xfrm>
            <a:off x="8258566" y="3132310"/>
            <a:ext cx="2940186" cy="878719"/>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63E"/>
                </a:solidFill>
                <a:latin typeface="DM Sans" pitchFamily="34" charset="0"/>
                <a:ea typeface="DM Sans" pitchFamily="34" charset="-122"/>
                <a:cs typeface="DM Sans" pitchFamily="34" charset="-120"/>
              </a:rPr>
              <a:t>Data and math that train models, from regression to deep nets.</a:t>
            </a:r>
            <a:endParaRPr lang="en-US" sz="1600" dirty="0"/>
          </a:p>
        </p:txBody>
      </p:sp>
      <p:sp>
        <p:nvSpPr>
          <p:cNvPr id="16" name="Text 11"/>
          <p:cNvSpPr/>
          <p:nvPr/>
        </p:nvSpPr>
        <p:spPr>
          <a:xfrm>
            <a:off x="812788" y="4644101"/>
            <a:ext cx="10883382" cy="309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63E"/>
                </a:solidFill>
                <a:latin typeface="DM Sans" pitchFamily="34" charset="0"/>
                <a:ea typeface="DM Sans" pitchFamily="34" charset="-122"/>
                <a:cs typeface="DM Sans" pitchFamily="34" charset="-120"/>
              </a:rPr>
              <a:t>MLOps borrows from all three to </a:t>
            </a:r>
            <a:r>
              <a:rPr lang="en-US" sz="1600" b="1" dirty="0">
                <a:solidFill>
                  <a:srgbClr val="1D1B18"/>
                </a:solidFill>
                <a:latin typeface="DM Sans" pitchFamily="34" charset="0"/>
                <a:ea typeface="DM Sans" pitchFamily="34" charset="-122"/>
                <a:cs typeface="DM Sans" pitchFamily="34" charset="-120"/>
              </a:rPr>
              <a:t>ship, run and improve</a:t>
            </a:r>
            <a:r>
              <a:rPr lang="en-US" sz="1600" dirty="0">
                <a:solidFill>
                  <a:srgbClr val="4A463E"/>
                </a:solidFill>
                <a:latin typeface="DM Sans" pitchFamily="34" charset="0"/>
                <a:ea typeface="DM Sans" pitchFamily="34" charset="-122"/>
                <a:cs typeface="DM Sans" pitchFamily="34" charset="-120"/>
              </a:rPr>
              <a:t> ML systems reliably.</a:t>
            </a:r>
            <a:endParaRPr lang="en-US" sz="1600" dirty="0"/>
          </a:p>
        </p:txBody>
      </p:sp>
      <p:sp>
        <p:nvSpPr>
          <p:cNvPr id="17" name="Text 12"/>
          <p:cNvSpPr/>
          <p:nvPr/>
        </p:nvSpPr>
        <p:spPr>
          <a:xfrm>
            <a:off x="812788" y="6238278"/>
            <a:ext cx="6540485"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65C"/>
                </a:solidFill>
                <a:latin typeface="DM Sans" pitchFamily="34" charset="0"/>
                <a:ea typeface="DM Sans" pitchFamily="34" charset="-122"/>
                <a:cs typeface="DM Sans" pitchFamily="34" charset="-120"/>
              </a:rPr>
              <a:t>5350 Applied Deep Learning · MLOps</a:t>
            </a:r>
            <a:endParaRPr lang="en-US" sz="1200" dirty="0"/>
          </a:p>
        </p:txBody>
      </p:sp>
      <p:sp>
        <p:nvSpPr>
          <p:cNvPr id="18" name="Text 13"/>
          <p:cNvSpPr/>
          <p:nvPr/>
        </p:nvSpPr>
        <p:spPr>
          <a:xfrm>
            <a:off x="10058381" y="6238278"/>
            <a:ext cx="1320797"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65C"/>
                </a:solidFill>
                <a:latin typeface="DM Sans" pitchFamily="34" charset="0"/>
                <a:ea typeface="DM Sans" pitchFamily="34" charset="-122"/>
                <a:cs typeface="DM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A5C12"/>
                </a:solidFill>
                <a:latin typeface="DM Sans" pitchFamily="34" charset="0"/>
                <a:ea typeface="DM Sans" pitchFamily="34" charset="-122"/>
                <a:cs typeface="DM Sans" pitchFamily="34" charset="-120"/>
              </a:rPr>
              <a:t>THE GOAL</a:t>
            </a:r>
            <a:endParaRPr lang="en-US" sz="1200" dirty="0"/>
          </a:p>
        </p:txBody>
      </p:sp>
      <p:sp>
        <p:nvSpPr>
          <p:cNvPr id="3" name="Text 1"/>
          <p:cNvSpPr/>
          <p:nvPr>
            <p:ph type="title"/>
          </p:nvPr>
        </p:nvSpPr>
        <p:spPr>
          <a:xfrm>
            <a:off x="812788" y="1127720"/>
            <a:ext cx="10883382" cy="528312"/>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1B18"/>
                </a:solidFill>
                <a:latin typeface="DM Sans" pitchFamily="34" charset="0"/>
                <a:ea typeface="DM Sans" pitchFamily="34" charset="-122"/>
                <a:cs typeface="DM Sans" pitchFamily="34" charset="-120"/>
              </a:rPr>
              <a:t>Four things a good ML system must be</a:t>
            </a:r>
            <a:endParaRPr lang="en-US" sz="3600" dirty="0"/>
          </a:p>
        </p:txBody>
      </p:sp>
      <p:sp>
        <p:nvSpPr>
          <p:cNvPr id="4" name="Shape 2"/>
          <p:cNvSpPr/>
          <p:nvPr/>
        </p:nvSpPr>
        <p:spPr>
          <a:xfrm>
            <a:off x="819138" y="1941764"/>
            <a:ext cx="5168882" cy="1448936"/>
          </a:xfrm>
          <a:prstGeom prst="roundRect">
            <a:avLst>
              <a:gd name="adj" fmla="val 8327"/>
            </a:avLst>
          </a:prstGeom>
          <a:solidFill>
            <a:srgbClr val="FFFDF8"/>
          </a:solidFill>
          <a:ln w="12700">
            <a:solidFill>
              <a:srgbClr val="E2DCCB"/>
            </a:solidFill>
            <a:prstDash val="solid"/>
          </a:ln>
        </p:spPr>
      </p:sp>
      <p:pic>
        <p:nvPicPr>
          <p:cNvPr id="5" name="Image 0" descr="Clock">    </p:cNvPr>
          <p:cNvPicPr>
            <a:picLocks noChangeAspect="1"/>
          </p:cNvPicPr>
          <p:nvPr/>
        </p:nvPicPr>
        <p:blipFill>
          <a:blip r:embed="rId1"/>
          <a:srcRect l="0" r="0" t="0" b="0"/>
          <a:stretch/>
        </p:blipFill>
        <p:spPr>
          <a:xfrm>
            <a:off x="1078848" y="2191285"/>
            <a:ext cx="304781" cy="304781"/>
          </a:xfrm>
          <a:prstGeom prst="rect">
            <a:avLst/>
          </a:prstGeom>
        </p:spPr>
      </p:pic>
      <p:sp>
        <p:nvSpPr>
          <p:cNvPr id="6" name="Text 3"/>
          <p:cNvSpPr/>
          <p:nvPr/>
        </p:nvSpPr>
        <p:spPr>
          <a:xfrm>
            <a:off x="1510622" y="2176075"/>
            <a:ext cx="2193610" cy="36063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D1B18"/>
                </a:solidFill>
                <a:latin typeface="DM Sans" pitchFamily="34" charset="0"/>
                <a:ea typeface="DM Sans" pitchFamily="34" charset="-122"/>
                <a:cs typeface="DM Sans" pitchFamily="34" charset="-120"/>
              </a:rPr>
              <a:t>Reproducible</a:t>
            </a:r>
            <a:endParaRPr lang="en-US" sz="2200" dirty="0"/>
          </a:p>
        </p:txBody>
      </p:sp>
      <p:sp>
        <p:nvSpPr>
          <p:cNvPr id="7" name="Text 4"/>
          <p:cNvSpPr/>
          <p:nvPr/>
        </p:nvSpPr>
        <p:spPr>
          <a:xfrm>
            <a:off x="1078848" y="2587507"/>
            <a:ext cx="4788945" cy="5942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63E"/>
                </a:solidFill>
                <a:latin typeface="DM Sans" pitchFamily="34" charset="0"/>
                <a:ea typeface="DM Sans" pitchFamily="34" charset="-122"/>
                <a:cs typeface="DM Sans" pitchFamily="34" charset="-120"/>
              </a:rPr>
              <a:t>Retrain a 9-month-old model and get nearly the same result.</a:t>
            </a:r>
            <a:endParaRPr lang="en-US" sz="1600" dirty="0"/>
          </a:p>
        </p:txBody>
      </p:sp>
      <p:sp>
        <p:nvSpPr>
          <p:cNvPr id="8" name="Shape 5"/>
          <p:cNvSpPr/>
          <p:nvPr/>
        </p:nvSpPr>
        <p:spPr>
          <a:xfrm>
            <a:off x="6203907" y="1941764"/>
            <a:ext cx="5168920" cy="1448936"/>
          </a:xfrm>
          <a:prstGeom prst="roundRect">
            <a:avLst>
              <a:gd name="adj" fmla="val 8327"/>
            </a:avLst>
          </a:prstGeom>
          <a:solidFill>
            <a:srgbClr val="FFFDF8"/>
          </a:solidFill>
          <a:ln w="12700">
            <a:solidFill>
              <a:srgbClr val="E2DCCB"/>
            </a:solidFill>
            <a:prstDash val="solid"/>
          </a:ln>
        </p:spPr>
      </p:sp>
      <p:pic>
        <p:nvPicPr>
          <p:cNvPr id="9" name="Image 1" descr="Search">    </p:cNvPr>
          <p:cNvPicPr>
            <a:picLocks noChangeAspect="1"/>
          </p:cNvPicPr>
          <p:nvPr/>
        </p:nvPicPr>
        <p:blipFill>
          <a:blip r:embed="rId2"/>
          <a:srcRect l="0" r="0" t="0" b="0"/>
          <a:stretch/>
        </p:blipFill>
        <p:spPr>
          <a:xfrm>
            <a:off x="6463618" y="2191285"/>
            <a:ext cx="304781" cy="304781"/>
          </a:xfrm>
          <a:prstGeom prst="rect">
            <a:avLst/>
          </a:prstGeom>
        </p:spPr>
      </p:pic>
      <p:sp>
        <p:nvSpPr>
          <p:cNvPr id="10" name="Text 6"/>
          <p:cNvSpPr/>
          <p:nvPr/>
        </p:nvSpPr>
        <p:spPr>
          <a:xfrm>
            <a:off x="6895392" y="2176075"/>
            <a:ext cx="2107247" cy="36063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D1B18"/>
                </a:solidFill>
                <a:latin typeface="DM Sans" pitchFamily="34" charset="0"/>
                <a:ea typeface="DM Sans" pitchFamily="34" charset="-122"/>
                <a:cs typeface="DM Sans" pitchFamily="34" charset="-120"/>
              </a:rPr>
              <a:t>Accountable</a:t>
            </a:r>
            <a:endParaRPr lang="en-US" sz="2200" dirty="0"/>
          </a:p>
        </p:txBody>
      </p:sp>
      <p:sp>
        <p:nvSpPr>
          <p:cNvPr id="11" name="Text 7"/>
          <p:cNvSpPr/>
          <p:nvPr/>
        </p:nvSpPr>
        <p:spPr>
          <a:xfrm>
            <a:off x="6463618" y="2587507"/>
            <a:ext cx="4788983" cy="5942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63E"/>
                </a:solidFill>
                <a:latin typeface="DM Sans" pitchFamily="34" charset="0"/>
                <a:ea typeface="DM Sans" pitchFamily="34" charset="-122"/>
                <a:cs typeface="DM Sans" pitchFamily="34" charset="-120"/>
              </a:rPr>
              <a:t>Trace any production model back to its data and code.</a:t>
            </a:r>
            <a:endParaRPr lang="en-US" sz="1600" dirty="0"/>
          </a:p>
        </p:txBody>
      </p:sp>
      <p:sp>
        <p:nvSpPr>
          <p:cNvPr id="12" name="Shape 8"/>
          <p:cNvSpPr/>
          <p:nvPr/>
        </p:nvSpPr>
        <p:spPr>
          <a:xfrm>
            <a:off x="819138" y="3606588"/>
            <a:ext cx="5168882" cy="1448936"/>
          </a:xfrm>
          <a:prstGeom prst="roundRect">
            <a:avLst>
              <a:gd name="adj" fmla="val 8327"/>
            </a:avLst>
          </a:prstGeom>
          <a:solidFill>
            <a:srgbClr val="FFFDF8"/>
          </a:solidFill>
          <a:ln w="12700">
            <a:solidFill>
              <a:srgbClr val="E2DCCB"/>
            </a:solidFill>
            <a:prstDash val="solid"/>
          </a:ln>
        </p:spPr>
      </p:sp>
      <p:pic>
        <p:nvPicPr>
          <p:cNvPr id="13" name="Image 2" descr="Users">    </p:cNvPr>
          <p:cNvPicPr>
            <a:picLocks noChangeAspect="1"/>
          </p:cNvPicPr>
          <p:nvPr/>
        </p:nvPicPr>
        <p:blipFill>
          <a:blip r:embed="rId3"/>
          <a:srcRect l="0" r="0" t="0" b="0"/>
          <a:stretch/>
        </p:blipFill>
        <p:spPr>
          <a:xfrm>
            <a:off x="1078848" y="3856109"/>
            <a:ext cx="304781" cy="304781"/>
          </a:xfrm>
          <a:prstGeom prst="rect">
            <a:avLst/>
          </a:prstGeom>
        </p:spPr>
      </p:pic>
      <p:sp>
        <p:nvSpPr>
          <p:cNvPr id="14" name="Text 9"/>
          <p:cNvSpPr/>
          <p:nvPr/>
        </p:nvSpPr>
        <p:spPr>
          <a:xfrm>
            <a:off x="1510622" y="3840899"/>
            <a:ext cx="2203256" cy="36063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D1B18"/>
                </a:solidFill>
                <a:latin typeface="DM Sans" pitchFamily="34" charset="0"/>
                <a:ea typeface="DM Sans" pitchFamily="34" charset="-122"/>
                <a:cs typeface="DM Sans" pitchFamily="34" charset="-120"/>
              </a:rPr>
              <a:t>Collaborative</a:t>
            </a:r>
            <a:endParaRPr lang="en-US" sz="2200" dirty="0"/>
          </a:p>
        </p:txBody>
      </p:sp>
      <p:sp>
        <p:nvSpPr>
          <p:cNvPr id="15" name="Text 10"/>
          <p:cNvSpPr/>
          <p:nvPr/>
        </p:nvSpPr>
        <p:spPr>
          <a:xfrm>
            <a:off x="1078848" y="4252331"/>
            <a:ext cx="4788945" cy="5942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63E"/>
                </a:solidFill>
                <a:latin typeface="DM Sans" pitchFamily="34" charset="0"/>
                <a:ea typeface="DM Sans" pitchFamily="34" charset="-122"/>
                <a:cs typeface="DM Sans" pitchFamily="34" charset="-120"/>
              </a:rPr>
              <a:t>A team can work on it together, at different times.</a:t>
            </a:r>
            <a:endParaRPr lang="en-US" sz="1600" dirty="0"/>
          </a:p>
        </p:txBody>
      </p:sp>
      <p:sp>
        <p:nvSpPr>
          <p:cNvPr id="16" name="Shape 11"/>
          <p:cNvSpPr/>
          <p:nvPr/>
        </p:nvSpPr>
        <p:spPr>
          <a:xfrm>
            <a:off x="6203907" y="3606588"/>
            <a:ext cx="5168920" cy="1448936"/>
          </a:xfrm>
          <a:prstGeom prst="roundRect">
            <a:avLst>
              <a:gd name="adj" fmla="val 8327"/>
            </a:avLst>
          </a:prstGeom>
          <a:solidFill>
            <a:srgbClr val="FFFDF8"/>
          </a:solidFill>
          <a:ln w="12700">
            <a:solidFill>
              <a:srgbClr val="E2DCCB"/>
            </a:solidFill>
            <a:prstDash val="solid"/>
          </a:ln>
        </p:spPr>
      </p:sp>
      <p:pic>
        <p:nvPicPr>
          <p:cNvPr id="17" name="Image 3" descr="Lightning">    </p:cNvPr>
          <p:cNvPicPr>
            <a:picLocks noChangeAspect="1"/>
          </p:cNvPicPr>
          <p:nvPr/>
        </p:nvPicPr>
        <p:blipFill>
          <a:blip r:embed="rId4"/>
          <a:srcRect l="0" r="0" t="0" b="0"/>
          <a:stretch/>
        </p:blipFill>
        <p:spPr>
          <a:xfrm>
            <a:off x="6463618" y="3856109"/>
            <a:ext cx="304781" cy="304781"/>
          </a:xfrm>
          <a:prstGeom prst="rect">
            <a:avLst/>
          </a:prstGeom>
        </p:spPr>
      </p:pic>
      <p:sp>
        <p:nvSpPr>
          <p:cNvPr id="18" name="Text 12"/>
          <p:cNvSpPr/>
          <p:nvPr/>
        </p:nvSpPr>
        <p:spPr>
          <a:xfrm>
            <a:off x="6895392" y="3840899"/>
            <a:ext cx="1898701" cy="36063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D1B18"/>
                </a:solidFill>
                <a:latin typeface="DM Sans" pitchFamily="34" charset="0"/>
                <a:ea typeface="DM Sans" pitchFamily="34" charset="-122"/>
                <a:cs typeface="DM Sans" pitchFamily="34" charset="-120"/>
              </a:rPr>
              <a:t>Continuous</a:t>
            </a:r>
            <a:endParaRPr lang="en-US" sz="2200" dirty="0"/>
          </a:p>
        </p:txBody>
      </p:sp>
      <p:sp>
        <p:nvSpPr>
          <p:cNvPr id="19" name="Text 13"/>
          <p:cNvSpPr/>
          <p:nvPr/>
        </p:nvSpPr>
        <p:spPr>
          <a:xfrm>
            <a:off x="6463618" y="4252331"/>
            <a:ext cx="4788983" cy="5942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63E"/>
                </a:solidFill>
                <a:latin typeface="DM Sans" pitchFamily="34" charset="0"/>
                <a:ea typeface="DM Sans" pitchFamily="34" charset="-122"/>
                <a:cs typeface="DM Sans" pitchFamily="34" charset="-120"/>
              </a:rPr>
              <a:t>Deploys automatically and is monitored all the time.</a:t>
            </a:r>
            <a:endParaRPr lang="en-US" sz="1600" dirty="0"/>
          </a:p>
        </p:txBody>
      </p:sp>
      <p:sp>
        <p:nvSpPr>
          <p:cNvPr id="20" name="Text 14"/>
          <p:cNvSpPr/>
          <p:nvPr/>
        </p:nvSpPr>
        <p:spPr>
          <a:xfrm>
            <a:off x="812788" y="6238278"/>
            <a:ext cx="6540485"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65C"/>
                </a:solidFill>
                <a:latin typeface="DM Sans" pitchFamily="34" charset="0"/>
                <a:ea typeface="DM Sans" pitchFamily="34" charset="-122"/>
                <a:cs typeface="DM Sans" pitchFamily="34" charset="-120"/>
              </a:rPr>
              <a:t>5350 Applied Deep Learning · MLOps</a:t>
            </a:r>
            <a:endParaRPr lang="en-US" sz="1200" dirty="0"/>
          </a:p>
        </p:txBody>
      </p:sp>
      <p:sp>
        <p:nvSpPr>
          <p:cNvPr id="21" name="Text 15"/>
          <p:cNvSpPr/>
          <p:nvPr/>
        </p:nvSpPr>
        <p:spPr>
          <a:xfrm>
            <a:off x="10058381" y="6238278"/>
            <a:ext cx="1320797"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65C"/>
                </a:solidFill>
                <a:latin typeface="DM Sans" pitchFamily="34" charset="0"/>
                <a:ea typeface="DM Sans" pitchFamily="34" charset="-122"/>
                <a:cs typeface="DM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FEBE0"/>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A5C12"/>
                </a:solidFill>
                <a:latin typeface="DM Sans" pitchFamily="34" charset="0"/>
                <a:ea typeface="DM Sans" pitchFamily="34" charset="-122"/>
                <a:cs typeface="DM Sans" pitchFamily="34" charset="-120"/>
              </a:rPr>
              <a:t>THE ML LIFECYCLE</a:t>
            </a:r>
            <a:endParaRPr lang="en-US" sz="1200" dirty="0"/>
          </a:p>
        </p:txBody>
      </p:sp>
      <p:sp>
        <p:nvSpPr>
          <p:cNvPr id="3" name="Text 1"/>
          <p:cNvSpPr/>
          <p:nvPr>
            <p:ph type="title"/>
          </p:nvPr>
        </p:nvSpPr>
        <p:spPr>
          <a:xfrm>
            <a:off x="812788" y="1127720"/>
            <a:ext cx="10883382" cy="528312"/>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1B18"/>
                </a:solidFill>
                <a:latin typeface="DM Sans" pitchFamily="34" charset="0"/>
                <a:ea typeface="DM Sans" pitchFamily="34" charset="-122"/>
                <a:cs typeface="DM Sans" pitchFamily="34" charset="-120"/>
              </a:rPr>
              <a:t>Five steps, repeated forever</a:t>
            </a:r>
            <a:endParaRPr lang="en-US" sz="3600" dirty="0"/>
          </a:p>
        </p:txBody>
      </p:sp>
      <p:sp>
        <p:nvSpPr>
          <p:cNvPr id="4" name="Shape 2"/>
          <p:cNvSpPr/>
          <p:nvPr/>
        </p:nvSpPr>
        <p:spPr>
          <a:xfrm>
            <a:off x="819138" y="2099211"/>
            <a:ext cx="1775455" cy="1250881"/>
          </a:xfrm>
          <a:prstGeom prst="roundRect">
            <a:avLst>
              <a:gd name="adj" fmla="val 9645"/>
            </a:avLst>
          </a:prstGeom>
          <a:solidFill>
            <a:srgbClr val="FFFDF8"/>
          </a:solidFill>
          <a:ln w="12700">
            <a:solidFill>
              <a:srgbClr val="E2DCCB"/>
            </a:solidFill>
            <a:prstDash val="solid"/>
          </a:ln>
        </p:spPr>
      </p:sp>
      <p:sp>
        <p:nvSpPr>
          <p:cNvPr id="5" name="Text 3"/>
          <p:cNvSpPr/>
          <p:nvPr/>
        </p:nvSpPr>
        <p:spPr>
          <a:xfrm>
            <a:off x="977255" y="2308126"/>
            <a:ext cx="1510021"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A5C12"/>
                </a:solidFill>
                <a:latin typeface="DM Sans" pitchFamily="34" charset="0"/>
                <a:ea typeface="DM Sans" pitchFamily="34" charset="-122"/>
                <a:cs typeface="DM Sans" pitchFamily="34" charset="-120"/>
              </a:rPr>
              <a:t>1</a:t>
            </a:r>
            <a:endParaRPr lang="en-US" sz="1200" dirty="0"/>
          </a:p>
        </p:txBody>
      </p:sp>
      <p:sp>
        <p:nvSpPr>
          <p:cNvPr id="6" name="Text 4"/>
          <p:cNvSpPr/>
          <p:nvPr/>
        </p:nvSpPr>
        <p:spPr>
          <a:xfrm>
            <a:off x="977255" y="2572262"/>
            <a:ext cx="1510021" cy="330181"/>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D1B18"/>
                </a:solidFill>
                <a:latin typeface="DM Sans" pitchFamily="34" charset="0"/>
                <a:ea typeface="DM Sans" pitchFamily="34" charset="-122"/>
                <a:cs typeface="DM Sans" pitchFamily="34" charset="-120"/>
              </a:rPr>
              <a:t>Data</a:t>
            </a:r>
            <a:endParaRPr lang="en-US" sz="2000" dirty="0"/>
          </a:p>
        </p:txBody>
      </p:sp>
      <p:sp>
        <p:nvSpPr>
          <p:cNvPr id="7" name="Text 5"/>
          <p:cNvSpPr/>
          <p:nvPr/>
        </p:nvSpPr>
        <p:spPr>
          <a:xfrm>
            <a:off x="977255" y="2927840"/>
            <a:ext cx="1510021"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63E"/>
                </a:solidFill>
                <a:latin typeface="DM Sans" pitchFamily="34" charset="0"/>
                <a:ea typeface="DM Sans" pitchFamily="34" charset="-122"/>
                <a:cs typeface="DM Sans" pitchFamily="34" charset="-120"/>
              </a:rPr>
              <a:t>Collect and clean it</a:t>
            </a:r>
            <a:endParaRPr lang="en-US" sz="1200" dirty="0"/>
          </a:p>
        </p:txBody>
      </p:sp>
      <p:pic>
        <p:nvPicPr>
          <p:cNvPr id="8" name="Image 0" descr="arrow-right">    </p:cNvPr>
          <p:cNvPicPr>
            <a:picLocks noChangeAspect="1"/>
          </p:cNvPicPr>
          <p:nvPr/>
        </p:nvPicPr>
        <p:blipFill>
          <a:blip r:embed="rId1"/>
          <a:srcRect l="0" r="0" t="0" b="0"/>
          <a:stretch/>
        </p:blipFill>
        <p:spPr>
          <a:xfrm>
            <a:off x="2677138" y="2648455"/>
            <a:ext cx="253984" cy="152391"/>
          </a:xfrm>
          <a:prstGeom prst="rect">
            <a:avLst/>
          </a:prstGeom>
        </p:spPr>
      </p:pic>
      <p:sp>
        <p:nvSpPr>
          <p:cNvPr id="9" name="Shape 6"/>
          <p:cNvSpPr/>
          <p:nvPr/>
        </p:nvSpPr>
        <p:spPr>
          <a:xfrm>
            <a:off x="3013668" y="2099211"/>
            <a:ext cx="1775493" cy="1250881"/>
          </a:xfrm>
          <a:prstGeom prst="roundRect">
            <a:avLst>
              <a:gd name="adj" fmla="val 9645"/>
            </a:avLst>
          </a:prstGeom>
          <a:solidFill>
            <a:srgbClr val="FFFDF8"/>
          </a:solidFill>
          <a:ln w="12700">
            <a:solidFill>
              <a:srgbClr val="E2DCCB"/>
            </a:solidFill>
            <a:prstDash val="solid"/>
          </a:ln>
        </p:spPr>
      </p:sp>
      <p:sp>
        <p:nvSpPr>
          <p:cNvPr id="10" name="Text 7"/>
          <p:cNvSpPr/>
          <p:nvPr/>
        </p:nvSpPr>
        <p:spPr>
          <a:xfrm>
            <a:off x="3171785" y="2308126"/>
            <a:ext cx="1510059"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A5C12"/>
                </a:solidFill>
                <a:latin typeface="DM Sans" pitchFamily="34" charset="0"/>
                <a:ea typeface="DM Sans" pitchFamily="34" charset="-122"/>
                <a:cs typeface="DM Sans" pitchFamily="34" charset="-120"/>
              </a:rPr>
              <a:t>2</a:t>
            </a:r>
            <a:endParaRPr lang="en-US" sz="1200" dirty="0"/>
          </a:p>
        </p:txBody>
      </p:sp>
      <p:sp>
        <p:nvSpPr>
          <p:cNvPr id="11" name="Text 8"/>
          <p:cNvSpPr/>
          <p:nvPr/>
        </p:nvSpPr>
        <p:spPr>
          <a:xfrm>
            <a:off x="3171785" y="2572262"/>
            <a:ext cx="1510059" cy="330181"/>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D1B18"/>
                </a:solidFill>
                <a:latin typeface="DM Sans" pitchFamily="34" charset="0"/>
                <a:ea typeface="DM Sans" pitchFamily="34" charset="-122"/>
                <a:cs typeface="DM Sans" pitchFamily="34" charset="-120"/>
              </a:rPr>
              <a:t>Train</a:t>
            </a:r>
            <a:endParaRPr lang="en-US" sz="2000" dirty="0"/>
          </a:p>
        </p:txBody>
      </p:sp>
      <p:sp>
        <p:nvSpPr>
          <p:cNvPr id="12" name="Text 9"/>
          <p:cNvSpPr/>
          <p:nvPr/>
        </p:nvSpPr>
        <p:spPr>
          <a:xfrm>
            <a:off x="3171785" y="2927840"/>
            <a:ext cx="1510059"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63E"/>
                </a:solidFill>
                <a:latin typeface="DM Sans" pitchFamily="34" charset="0"/>
                <a:ea typeface="DM Sans" pitchFamily="34" charset="-122"/>
                <a:cs typeface="DM Sans" pitchFamily="34" charset="-120"/>
              </a:rPr>
              <a:t>Fit the model</a:t>
            </a:r>
            <a:endParaRPr lang="en-US" sz="1200" dirty="0"/>
          </a:p>
        </p:txBody>
      </p:sp>
      <p:pic>
        <p:nvPicPr>
          <p:cNvPr id="13" name="Image 1" descr="arrow-right">    </p:cNvPr>
          <p:cNvPicPr>
            <a:picLocks noChangeAspect="1"/>
          </p:cNvPicPr>
          <p:nvPr/>
        </p:nvPicPr>
        <p:blipFill>
          <a:blip r:embed="rId2"/>
          <a:srcRect l="0" r="0" t="0" b="0"/>
          <a:stretch/>
        </p:blipFill>
        <p:spPr>
          <a:xfrm>
            <a:off x="4871707" y="2648455"/>
            <a:ext cx="253984" cy="152391"/>
          </a:xfrm>
          <a:prstGeom prst="rect">
            <a:avLst/>
          </a:prstGeom>
        </p:spPr>
      </p:pic>
      <p:sp>
        <p:nvSpPr>
          <p:cNvPr id="14" name="Shape 10"/>
          <p:cNvSpPr/>
          <p:nvPr/>
        </p:nvSpPr>
        <p:spPr>
          <a:xfrm>
            <a:off x="5208236" y="2099211"/>
            <a:ext cx="1775455" cy="1250881"/>
          </a:xfrm>
          <a:prstGeom prst="roundRect">
            <a:avLst>
              <a:gd name="adj" fmla="val 9645"/>
            </a:avLst>
          </a:prstGeom>
          <a:solidFill>
            <a:srgbClr val="FFFDF8"/>
          </a:solidFill>
          <a:ln w="12700">
            <a:solidFill>
              <a:srgbClr val="E2DCCB"/>
            </a:solidFill>
            <a:prstDash val="solid"/>
          </a:ln>
        </p:spPr>
      </p:sp>
      <p:sp>
        <p:nvSpPr>
          <p:cNvPr id="15" name="Text 11"/>
          <p:cNvSpPr/>
          <p:nvPr/>
        </p:nvSpPr>
        <p:spPr>
          <a:xfrm>
            <a:off x="5366353" y="2308126"/>
            <a:ext cx="1510021"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A5C12"/>
                </a:solidFill>
                <a:latin typeface="DM Sans" pitchFamily="34" charset="0"/>
                <a:ea typeface="DM Sans" pitchFamily="34" charset="-122"/>
                <a:cs typeface="DM Sans" pitchFamily="34" charset="-120"/>
              </a:rPr>
              <a:t>3</a:t>
            </a:r>
            <a:endParaRPr lang="en-US" sz="1200" dirty="0"/>
          </a:p>
        </p:txBody>
      </p:sp>
      <p:sp>
        <p:nvSpPr>
          <p:cNvPr id="16" name="Text 12"/>
          <p:cNvSpPr/>
          <p:nvPr/>
        </p:nvSpPr>
        <p:spPr>
          <a:xfrm>
            <a:off x="5366353" y="2572262"/>
            <a:ext cx="1510021" cy="330181"/>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D1B18"/>
                </a:solidFill>
                <a:latin typeface="DM Sans" pitchFamily="34" charset="0"/>
                <a:ea typeface="DM Sans" pitchFamily="34" charset="-122"/>
                <a:cs typeface="DM Sans" pitchFamily="34" charset="-120"/>
              </a:rPr>
              <a:t>Evaluate</a:t>
            </a:r>
            <a:endParaRPr lang="en-US" sz="2000" dirty="0"/>
          </a:p>
        </p:txBody>
      </p:sp>
      <p:sp>
        <p:nvSpPr>
          <p:cNvPr id="17" name="Text 13"/>
          <p:cNvSpPr/>
          <p:nvPr/>
        </p:nvSpPr>
        <p:spPr>
          <a:xfrm>
            <a:off x="5366353" y="2927840"/>
            <a:ext cx="1510021"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63E"/>
                </a:solidFill>
                <a:latin typeface="DM Sans" pitchFamily="34" charset="0"/>
                <a:ea typeface="DM Sans" pitchFamily="34" charset="-122"/>
                <a:cs typeface="DM Sans" pitchFamily="34" charset="-120"/>
              </a:rPr>
              <a:t>Check the metrics</a:t>
            </a:r>
            <a:endParaRPr lang="en-US" sz="1200" dirty="0"/>
          </a:p>
        </p:txBody>
      </p:sp>
      <p:pic>
        <p:nvPicPr>
          <p:cNvPr id="18" name="Image 2" descr="arrow-right">    </p:cNvPr>
          <p:cNvPicPr>
            <a:picLocks noChangeAspect="1"/>
          </p:cNvPicPr>
          <p:nvPr/>
        </p:nvPicPr>
        <p:blipFill>
          <a:blip r:embed="rId3"/>
          <a:srcRect l="0" r="0" t="0" b="0"/>
          <a:stretch/>
        </p:blipFill>
        <p:spPr>
          <a:xfrm>
            <a:off x="7066237" y="2648455"/>
            <a:ext cx="253984" cy="152391"/>
          </a:xfrm>
          <a:prstGeom prst="rect">
            <a:avLst/>
          </a:prstGeom>
        </p:spPr>
      </p:pic>
      <p:sp>
        <p:nvSpPr>
          <p:cNvPr id="19" name="Shape 14"/>
          <p:cNvSpPr/>
          <p:nvPr/>
        </p:nvSpPr>
        <p:spPr>
          <a:xfrm>
            <a:off x="7402766" y="1992561"/>
            <a:ext cx="1775493" cy="1464221"/>
          </a:xfrm>
          <a:prstGeom prst="roundRect">
            <a:avLst>
              <a:gd name="adj" fmla="val 8240"/>
            </a:avLst>
          </a:prstGeom>
          <a:solidFill>
            <a:srgbClr val="FFFDF8"/>
          </a:solidFill>
          <a:ln w="12700">
            <a:solidFill>
              <a:srgbClr val="E2DCCB"/>
            </a:solidFill>
            <a:prstDash val="solid"/>
          </a:ln>
        </p:spPr>
      </p:sp>
      <p:sp>
        <p:nvSpPr>
          <p:cNvPr id="20" name="Text 15"/>
          <p:cNvSpPr/>
          <p:nvPr/>
        </p:nvSpPr>
        <p:spPr>
          <a:xfrm>
            <a:off x="7560883" y="2201475"/>
            <a:ext cx="1510059"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A5C12"/>
                </a:solidFill>
                <a:latin typeface="DM Sans" pitchFamily="34" charset="0"/>
                <a:ea typeface="DM Sans" pitchFamily="34" charset="-122"/>
                <a:cs typeface="DM Sans" pitchFamily="34" charset="-120"/>
              </a:rPr>
              <a:t>4</a:t>
            </a:r>
            <a:endParaRPr lang="en-US" sz="1200" dirty="0"/>
          </a:p>
        </p:txBody>
      </p:sp>
      <p:sp>
        <p:nvSpPr>
          <p:cNvPr id="21" name="Text 16"/>
          <p:cNvSpPr/>
          <p:nvPr/>
        </p:nvSpPr>
        <p:spPr>
          <a:xfrm>
            <a:off x="7560883" y="2465611"/>
            <a:ext cx="1510059" cy="330181"/>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D1B18"/>
                </a:solidFill>
                <a:latin typeface="DM Sans" pitchFamily="34" charset="0"/>
                <a:ea typeface="DM Sans" pitchFamily="34" charset="-122"/>
                <a:cs typeface="DM Sans" pitchFamily="34" charset="-120"/>
              </a:rPr>
              <a:t>Deploy</a:t>
            </a:r>
            <a:endParaRPr lang="en-US" sz="2000" dirty="0"/>
          </a:p>
        </p:txBody>
      </p:sp>
      <p:sp>
        <p:nvSpPr>
          <p:cNvPr id="22" name="Text 17"/>
          <p:cNvSpPr/>
          <p:nvPr/>
        </p:nvSpPr>
        <p:spPr>
          <a:xfrm>
            <a:off x="7560883" y="2821189"/>
            <a:ext cx="1510059"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63E"/>
                </a:solidFill>
                <a:latin typeface="DM Sans" pitchFamily="34" charset="0"/>
                <a:ea typeface="DM Sans" pitchFamily="34" charset="-122"/>
                <a:cs typeface="DM Sans" pitchFamily="34" charset="-120"/>
              </a:rPr>
              <a:t>Serve it as an app or API</a:t>
            </a:r>
            <a:endParaRPr lang="en-US" sz="1200" dirty="0"/>
          </a:p>
        </p:txBody>
      </p:sp>
      <p:pic>
        <p:nvPicPr>
          <p:cNvPr id="23" name="Image 3" descr="arrow-right">    </p:cNvPr>
          <p:cNvPicPr>
            <a:picLocks noChangeAspect="1"/>
          </p:cNvPicPr>
          <p:nvPr/>
        </p:nvPicPr>
        <p:blipFill>
          <a:blip r:embed="rId4"/>
          <a:srcRect l="0" r="0" t="0" b="0"/>
          <a:stretch/>
        </p:blipFill>
        <p:spPr>
          <a:xfrm>
            <a:off x="9260804" y="2648455"/>
            <a:ext cx="253984" cy="152391"/>
          </a:xfrm>
          <a:prstGeom prst="rect">
            <a:avLst/>
          </a:prstGeom>
        </p:spPr>
      </p:pic>
      <p:sp>
        <p:nvSpPr>
          <p:cNvPr id="24" name="Shape 18"/>
          <p:cNvSpPr/>
          <p:nvPr/>
        </p:nvSpPr>
        <p:spPr>
          <a:xfrm>
            <a:off x="9597334" y="1992561"/>
            <a:ext cx="1775493" cy="1464221"/>
          </a:xfrm>
          <a:prstGeom prst="roundRect">
            <a:avLst>
              <a:gd name="adj" fmla="val 8240"/>
            </a:avLst>
          </a:prstGeom>
          <a:solidFill>
            <a:srgbClr val="FFFDF8"/>
          </a:solidFill>
          <a:ln w="12700">
            <a:solidFill>
              <a:srgbClr val="E2DCCB"/>
            </a:solidFill>
            <a:prstDash val="solid"/>
          </a:ln>
        </p:spPr>
      </p:sp>
      <p:sp>
        <p:nvSpPr>
          <p:cNvPr id="25" name="Text 19"/>
          <p:cNvSpPr/>
          <p:nvPr/>
        </p:nvSpPr>
        <p:spPr>
          <a:xfrm>
            <a:off x="9755452" y="2201475"/>
            <a:ext cx="1510059"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A5C12"/>
                </a:solidFill>
                <a:latin typeface="DM Sans" pitchFamily="34" charset="0"/>
                <a:ea typeface="DM Sans" pitchFamily="34" charset="-122"/>
                <a:cs typeface="DM Sans" pitchFamily="34" charset="-120"/>
              </a:rPr>
              <a:t>5</a:t>
            </a:r>
            <a:endParaRPr lang="en-US" sz="1200" dirty="0"/>
          </a:p>
        </p:txBody>
      </p:sp>
      <p:sp>
        <p:nvSpPr>
          <p:cNvPr id="26" name="Text 20"/>
          <p:cNvSpPr/>
          <p:nvPr/>
        </p:nvSpPr>
        <p:spPr>
          <a:xfrm>
            <a:off x="9755452" y="2465611"/>
            <a:ext cx="1510059" cy="330181"/>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D1B18"/>
                </a:solidFill>
                <a:latin typeface="DM Sans" pitchFamily="34" charset="0"/>
                <a:ea typeface="DM Sans" pitchFamily="34" charset="-122"/>
                <a:cs typeface="DM Sans" pitchFamily="34" charset="-120"/>
              </a:rPr>
              <a:t>Monitor</a:t>
            </a:r>
            <a:endParaRPr lang="en-US" sz="2000" dirty="0"/>
          </a:p>
        </p:txBody>
      </p:sp>
      <p:sp>
        <p:nvSpPr>
          <p:cNvPr id="27" name="Text 21"/>
          <p:cNvSpPr/>
          <p:nvPr/>
        </p:nvSpPr>
        <p:spPr>
          <a:xfrm>
            <a:off x="9755452" y="2821189"/>
            <a:ext cx="1510059"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63E"/>
                </a:solidFill>
                <a:latin typeface="DM Sans" pitchFamily="34" charset="0"/>
                <a:ea typeface="DM Sans" pitchFamily="34" charset="-122"/>
                <a:cs typeface="DM Sans" pitchFamily="34" charset="-120"/>
              </a:rPr>
              <a:t>Watch it in production</a:t>
            </a:r>
            <a:endParaRPr lang="en-US" sz="1200" dirty="0"/>
          </a:p>
        </p:txBody>
      </p:sp>
      <p:sp>
        <p:nvSpPr>
          <p:cNvPr id="28" name="Text 22"/>
          <p:cNvSpPr/>
          <p:nvPr/>
        </p:nvSpPr>
        <p:spPr>
          <a:xfrm>
            <a:off x="812788" y="3818710"/>
            <a:ext cx="10566390" cy="792408"/>
          </a:xfrm>
          <a:prstGeom prst="roundRect">
            <a:avLst>
              <a:gd name="adj" fmla="val 16027"/>
            </a:avLst>
          </a:prstGeom>
          <a:solidFill>
            <a:srgbClr val="1D1B18"/>
          </a:solidFill>
          <a:ln/>
        </p:spPr>
        <p:txBody>
          <a:bodyPr wrap="square" lIns="267584" tIns="216803" rIns="0" bIns="191372" rtlCol="0" anchor="t">
            <a:normAutofit/>
          </a:bodyPr>
          <a:lstStyle/>
          <a:p>
            <a:pPr algn="l" indent="0" marL="0">
              <a:lnSpc>
                <a:spcPts val="2240"/>
              </a:lnSpc>
              <a:buNone/>
            </a:pPr>
            <a:r>
              <a:rPr lang="en-US" sz="1600" b="1" dirty="0">
                <a:solidFill>
                  <a:srgbClr val="CFB87C"/>
                </a:solidFill>
                <a:latin typeface="DM Sans" pitchFamily="34" charset="0"/>
                <a:ea typeface="DM Sans" pitchFamily="34" charset="-122"/>
                <a:cs typeface="DM Sans" pitchFamily="34" charset="-120"/>
              </a:rPr>
              <a:t>It’s a loop, not a line.</a:t>
            </a:r>
            <a:r>
              <a:rPr lang="en-US" sz="1600" dirty="0">
                <a:solidFill>
                  <a:srgbClr val="F7F5EF"/>
                </a:solidFill>
                <a:latin typeface="DM Sans" pitchFamily="34" charset="0"/>
                <a:ea typeface="DM Sans" pitchFamily="34" charset="-122"/>
                <a:cs typeface="DM Sans" pitchFamily="34" charset="-120"/>
              </a:rPr>
              <a:t> When monitoring finds a problem, collect new data, retrain and redeploy.</a:t>
            </a:r>
            <a:endParaRPr lang="en-US" sz="1600" dirty="0"/>
          </a:p>
        </p:txBody>
      </p:sp>
      <p:sp>
        <p:nvSpPr>
          <p:cNvPr id="29" name="Text 23"/>
          <p:cNvSpPr/>
          <p:nvPr/>
        </p:nvSpPr>
        <p:spPr>
          <a:xfrm>
            <a:off x="812788" y="6238277"/>
            <a:ext cx="6540485"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65C"/>
                </a:solidFill>
                <a:latin typeface="DM Sans" pitchFamily="34" charset="0"/>
                <a:ea typeface="DM Sans" pitchFamily="34" charset="-122"/>
                <a:cs typeface="DM Sans" pitchFamily="34" charset="-120"/>
              </a:rPr>
              <a:t>5350 Applied Deep Learning · MLOps</a:t>
            </a:r>
            <a:endParaRPr lang="en-US" sz="1200" dirty="0"/>
          </a:p>
        </p:txBody>
      </p:sp>
      <p:sp>
        <p:nvSpPr>
          <p:cNvPr id="30" name="Text 24"/>
          <p:cNvSpPr/>
          <p:nvPr/>
        </p:nvSpPr>
        <p:spPr>
          <a:xfrm>
            <a:off x="10058381" y="6238277"/>
            <a:ext cx="1320797"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65C"/>
                </a:solidFill>
                <a:latin typeface="DM Sans" pitchFamily="34" charset="0"/>
                <a:ea typeface="DM Sans" pitchFamily="34" charset="-122"/>
                <a:cs typeface="DM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A5C12"/>
                </a:solidFill>
                <a:latin typeface="DM Sans" pitchFamily="34" charset="0"/>
                <a:ea typeface="DM Sans" pitchFamily="34" charset="-122"/>
                <a:cs typeface="DM Sans" pitchFamily="34" charset="-120"/>
              </a:rPr>
              <a:t>OUR RUNNING EXAMPLE</a:t>
            </a:r>
            <a:endParaRPr lang="en-US" sz="1200" dirty="0"/>
          </a:p>
        </p:txBody>
      </p:sp>
      <p:sp>
        <p:nvSpPr>
          <p:cNvPr id="3" name="Text 1"/>
          <p:cNvSpPr/>
          <p:nvPr>
            <p:ph type="title"/>
          </p:nvPr>
        </p:nvSpPr>
        <p:spPr>
          <a:xfrm>
            <a:off x="812788" y="1127720"/>
            <a:ext cx="10883382" cy="528312"/>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1B18"/>
                </a:solidFill>
                <a:latin typeface="DM Sans" pitchFamily="34" charset="0"/>
                <a:ea typeface="DM Sans" pitchFamily="34" charset="-122"/>
                <a:cs typeface="DM Sans" pitchFamily="34" charset="-120"/>
              </a:rPr>
              <a:t>An SMS spam classifier</a:t>
            </a:r>
            <a:endParaRPr lang="en-US" sz="3600" dirty="0"/>
          </a:p>
        </p:txBody>
      </p:sp>
      <p:sp>
        <p:nvSpPr>
          <p:cNvPr id="4" name="Text 2"/>
          <p:cNvSpPr/>
          <p:nvPr/>
        </p:nvSpPr>
        <p:spPr>
          <a:xfrm>
            <a:off x="812788" y="1935414"/>
            <a:ext cx="6121919"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A5C12"/>
                </a:solidFill>
                <a:latin typeface="DM Sans" pitchFamily="34" charset="0"/>
                <a:ea typeface="DM Sans" pitchFamily="34" charset="-122"/>
                <a:cs typeface="DM Sans" pitchFamily="34" charset="-120"/>
              </a:rPr>
              <a:t>train_model.py, step by step</a:t>
            </a:r>
            <a:endParaRPr lang="en-US" sz="1600" dirty="0"/>
          </a:p>
        </p:txBody>
      </p:sp>
      <p:sp>
        <p:nvSpPr>
          <p:cNvPr id="5" name="Text 3"/>
          <p:cNvSpPr/>
          <p:nvPr/>
        </p:nvSpPr>
        <p:spPr>
          <a:xfrm>
            <a:off x="848504" y="2306200"/>
            <a:ext cx="6078582" cy="1549306"/>
          </a:xfrm>
          <a:prstGeom prst="rect">
            <a:avLst/>
          </a:prstGeom>
          <a:noFill/>
          <a:ln/>
        </p:spPr>
        <p:txBody>
          <a:bodyPr wrap="square" lIns="0" tIns="0" rIns="0" bIns="0" rtlCol="0" anchor="t">
            <a:normAutofit/>
          </a:bodyPr>
          <a:lstStyle/>
          <a:p>
            <a:pPr algn="l" marL="218283" indent="-218283">
              <a:lnSpc>
                <a:spcPts val="2400"/>
              </a:lnSpc>
              <a:buSzPct val="100000"/>
              <a:buFontTx/>
              <a:buAutoNum type="arabicPeriod" startAt="1"/>
            </a:pPr>
            <a:r>
              <a:rPr lang="en-US" sz="1600" dirty="0">
                <a:solidFill>
                  <a:srgbClr val="4A463E"/>
                </a:solidFill>
                <a:latin typeface="DM Sans" pitchFamily="34" charset="0"/>
                <a:ea typeface="DM Sans" pitchFamily="34" charset="-122"/>
                <a:cs typeface="DM Sans" pitchFamily="34" charset="-120"/>
              </a:rPr>
              <a:t>Load the CSV of labeled messages</a:t>
            </a:r>
            <a:endParaRPr lang="en-US" sz="1600" dirty="0"/>
          </a:p>
          <a:p>
            <a:pPr algn="l" marL="218283" indent="-218283">
              <a:lnSpc>
                <a:spcPts val="2400"/>
              </a:lnSpc>
              <a:buSzPct val="100000"/>
              <a:buFontTx/>
              <a:buAutoNum type="arabicPeriod" startAt="1"/>
            </a:pPr>
            <a:r>
              <a:rPr lang="en-US" sz="1600" dirty="0">
                <a:solidFill>
                  <a:srgbClr val="4A463E"/>
                </a:solidFill>
                <a:latin typeface="DM Sans" pitchFamily="34" charset="0"/>
                <a:ea typeface="DM Sans" pitchFamily="34" charset="-122"/>
                <a:cs typeface="DM Sans" pitchFamily="34" charset="-120"/>
              </a:rPr>
              <a:t>Extract two features: length and punctuation count</a:t>
            </a:r>
            <a:endParaRPr lang="en-US" sz="1600" dirty="0"/>
          </a:p>
          <a:p>
            <a:pPr algn="l" marL="218283" indent="-218283">
              <a:lnSpc>
                <a:spcPts val="2400"/>
              </a:lnSpc>
              <a:buSzPct val="100000"/>
              <a:buFontTx/>
              <a:buAutoNum type="arabicPeriod" startAt="1"/>
            </a:pPr>
            <a:r>
              <a:rPr lang="en-US" sz="1600" dirty="0">
                <a:solidFill>
                  <a:srgbClr val="4A463E"/>
                </a:solidFill>
                <a:latin typeface="DM Sans" pitchFamily="34" charset="0"/>
                <a:ea typeface="DM Sans" pitchFamily="34" charset="-122"/>
                <a:cs typeface="DM Sans" pitchFamily="34" charset="-120"/>
              </a:rPr>
              <a:t>Split the data: 75% train, 25% test</a:t>
            </a:r>
            <a:endParaRPr lang="en-US" sz="1600" dirty="0"/>
          </a:p>
          <a:p>
            <a:pPr algn="l" marL="218283" indent="-218283">
              <a:lnSpc>
                <a:spcPts val="2400"/>
              </a:lnSpc>
              <a:buSzPct val="100000"/>
              <a:buFontTx/>
              <a:buAutoNum type="arabicPeriod" startAt="1"/>
            </a:pPr>
            <a:r>
              <a:rPr lang="en-US" sz="1600" dirty="0">
                <a:solidFill>
                  <a:srgbClr val="4A463E"/>
                </a:solidFill>
                <a:latin typeface="DM Sans" pitchFamily="34" charset="0"/>
                <a:ea typeface="DM Sans" pitchFamily="34" charset="-122"/>
                <a:cs typeface="DM Sans" pitchFamily="34" charset="-120"/>
              </a:rPr>
              <a:t>Train a logistic regression model</a:t>
            </a:r>
            <a:endParaRPr lang="en-US" sz="1600" dirty="0"/>
          </a:p>
          <a:p>
            <a:pPr algn="l" marL="218283" indent="-218283">
              <a:lnSpc>
                <a:spcPts val="2400"/>
              </a:lnSpc>
              <a:buSzPct val="100000"/>
              <a:buFontTx/>
              <a:buAutoNum type="arabicPeriod" startAt="1"/>
            </a:pPr>
            <a:r>
              <a:rPr lang="en-US" sz="1600" dirty="0">
                <a:solidFill>
                  <a:srgbClr val="4A463E"/>
                </a:solidFill>
                <a:latin typeface="DM Sans" pitchFamily="34" charset="0"/>
                <a:ea typeface="DM Sans" pitchFamily="34" charset="-122"/>
                <a:cs typeface="DM Sans" pitchFamily="34" charset="-120"/>
              </a:rPr>
              <a:t>Print metrics and save the model as a .pkl file</a:t>
            </a:r>
            <a:endParaRPr lang="en-US" sz="1600" dirty="0"/>
          </a:p>
        </p:txBody>
      </p:sp>
      <p:sp>
        <p:nvSpPr>
          <p:cNvPr id="6" name="Shape 4"/>
          <p:cNvSpPr/>
          <p:nvPr/>
        </p:nvSpPr>
        <p:spPr>
          <a:xfrm>
            <a:off x="7067530" y="1941764"/>
            <a:ext cx="4305298" cy="3018582"/>
          </a:xfrm>
          <a:prstGeom prst="roundRect">
            <a:avLst>
              <a:gd name="adj" fmla="val 3997"/>
            </a:avLst>
          </a:prstGeom>
          <a:solidFill>
            <a:srgbClr val="FFFDF8"/>
          </a:solidFill>
          <a:ln w="12700">
            <a:solidFill>
              <a:srgbClr val="E2DCCB"/>
            </a:solidFill>
            <a:prstDash val="solid"/>
          </a:ln>
        </p:spPr>
      </p:sp>
      <p:sp>
        <p:nvSpPr>
          <p:cNvPr id="7" name="Text 5"/>
          <p:cNvSpPr/>
          <p:nvPr/>
        </p:nvSpPr>
        <p:spPr>
          <a:xfrm>
            <a:off x="7327240" y="2201475"/>
            <a:ext cx="3899453" cy="23873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665C"/>
                </a:solidFill>
                <a:latin typeface="DM Sans" pitchFamily="34" charset="0"/>
                <a:ea typeface="DM Sans" pitchFamily="34" charset="-122"/>
                <a:cs typeface="DM Sans" pitchFamily="34" charset="-120"/>
              </a:rPr>
              <a:t>WHAT THE MODEL SEES</a:t>
            </a:r>
            <a:endParaRPr lang="en-US" sz="1200" dirty="0"/>
          </a:p>
        </p:txBody>
      </p:sp>
      <p:sp>
        <p:nvSpPr>
          <p:cNvPr id="8" name="Text 6"/>
          <p:cNvSpPr/>
          <p:nvPr/>
        </p:nvSpPr>
        <p:spPr>
          <a:xfrm>
            <a:off x="7327240" y="2567205"/>
            <a:ext cx="3785876" cy="873661"/>
          </a:xfrm>
          <a:prstGeom prst="roundRect">
            <a:avLst>
              <a:gd name="adj" fmla="val 8722"/>
            </a:avLst>
          </a:prstGeom>
          <a:solidFill>
            <a:srgbClr val="EFEBE0"/>
          </a:solidFill>
          <a:ln/>
        </p:spPr>
        <p:txBody>
          <a:bodyPr wrap="square" lIns="130082" tIns="130082" rIns="25649" bIns="104682" rtlCol="0" anchor="t">
            <a:normAutofit/>
          </a:bodyPr>
          <a:lstStyle/>
          <a:p>
            <a:pPr algn="l" indent="0" marL="0">
              <a:lnSpc>
                <a:spcPts val="2240"/>
              </a:lnSpc>
              <a:buNone/>
            </a:pPr>
            <a:r>
              <a:rPr lang="en-US" sz="1600" dirty="0">
                <a:solidFill>
                  <a:srgbClr val="1D1B18"/>
                </a:solidFill>
                <a:latin typeface="JetBrains Mono" pitchFamily="49" charset="0"/>
                <a:ea typeface="JetBrains Mono" pitchFamily="49" charset="-122"/>
                <a:cs typeface="JetBrains Mono" pitchFamily="49" charset="-120"/>
              </a:rPr>
              <a:t>WINNER!! Claim your free prize now!!!</a:t>
            </a:r>
            <a:endParaRPr lang="en-US" sz="1600" dirty="0"/>
          </a:p>
        </p:txBody>
      </p:sp>
      <p:sp>
        <p:nvSpPr>
          <p:cNvPr id="9" name="Text 7"/>
          <p:cNvSpPr/>
          <p:nvPr/>
        </p:nvSpPr>
        <p:spPr>
          <a:xfrm>
            <a:off x="7327240" y="3593257"/>
            <a:ext cx="1871226" cy="528312"/>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D1B18"/>
                </a:solidFill>
                <a:latin typeface="DM Sans" pitchFamily="34" charset="0"/>
                <a:ea typeface="DM Sans" pitchFamily="34" charset="-122"/>
                <a:cs typeface="DM Sans" pitchFamily="34" charset="-120"/>
              </a:rPr>
              <a:t>37</a:t>
            </a:r>
            <a:endParaRPr lang="en-US" sz="3600" dirty="0"/>
          </a:p>
        </p:txBody>
      </p:sp>
      <p:sp>
        <p:nvSpPr>
          <p:cNvPr id="10" name="Text 8"/>
          <p:cNvSpPr/>
          <p:nvPr/>
        </p:nvSpPr>
        <p:spPr>
          <a:xfrm>
            <a:off x="7327240" y="4121565"/>
            <a:ext cx="1871226"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63E"/>
                </a:solidFill>
                <a:latin typeface="DM Sans" pitchFamily="34" charset="0"/>
                <a:ea typeface="DM Sans" pitchFamily="34" charset="-122"/>
                <a:cs typeface="DM Sans" pitchFamily="34" charset="-120"/>
              </a:rPr>
              <a:t>characters</a:t>
            </a:r>
            <a:endParaRPr lang="en-US" sz="1200" dirty="0"/>
          </a:p>
        </p:txBody>
      </p:sp>
      <p:sp>
        <p:nvSpPr>
          <p:cNvPr id="11" name="Text 9"/>
          <p:cNvSpPr/>
          <p:nvPr/>
        </p:nvSpPr>
        <p:spPr>
          <a:xfrm>
            <a:off x="9296355" y="3593257"/>
            <a:ext cx="1871264" cy="528312"/>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D1B18"/>
                </a:solidFill>
                <a:latin typeface="DM Sans" pitchFamily="34" charset="0"/>
                <a:ea typeface="DM Sans" pitchFamily="34" charset="-122"/>
                <a:cs typeface="DM Sans" pitchFamily="34" charset="-120"/>
              </a:rPr>
              <a:t>5</a:t>
            </a:r>
            <a:endParaRPr lang="en-US" sz="3600" dirty="0"/>
          </a:p>
        </p:txBody>
      </p:sp>
      <p:sp>
        <p:nvSpPr>
          <p:cNvPr id="12" name="Text 10"/>
          <p:cNvSpPr/>
          <p:nvPr/>
        </p:nvSpPr>
        <p:spPr>
          <a:xfrm>
            <a:off x="9296355" y="4121565"/>
            <a:ext cx="1871264"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63E"/>
                </a:solidFill>
                <a:latin typeface="DM Sans" pitchFamily="34" charset="0"/>
                <a:ea typeface="DM Sans" pitchFamily="34" charset="-122"/>
                <a:cs typeface="DM Sans" pitchFamily="34" charset="-120"/>
              </a:rPr>
              <a:t>punctuation marks</a:t>
            </a:r>
            <a:endParaRPr lang="en-US" sz="1200" dirty="0"/>
          </a:p>
        </p:txBody>
      </p:sp>
      <p:sp>
        <p:nvSpPr>
          <p:cNvPr id="13" name="Text 11"/>
          <p:cNvSpPr/>
          <p:nvPr/>
        </p:nvSpPr>
        <p:spPr>
          <a:xfrm>
            <a:off x="7327240" y="4487295"/>
            <a:ext cx="3899453"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63E"/>
                </a:solidFill>
                <a:latin typeface="DM Sans" pitchFamily="34" charset="0"/>
                <a:ea typeface="DM Sans" pitchFamily="34" charset="-122"/>
                <a:cs typeface="DM Sans" pitchFamily="34" charset="-120"/>
              </a:rPr>
              <a:t>Just two numbers in, one label out: </a:t>
            </a:r>
            <a:r>
              <a:rPr lang="en-US" sz="1200" b="1" dirty="0">
                <a:solidFill>
                  <a:srgbClr val="4A463E"/>
                </a:solidFill>
                <a:latin typeface="DM Sans" pitchFamily="34" charset="0"/>
                <a:ea typeface="DM Sans" pitchFamily="34" charset="-122"/>
                <a:cs typeface="DM Sans" pitchFamily="34" charset="-120"/>
              </a:rPr>
              <a:t>spam</a:t>
            </a:r>
            <a:r>
              <a:rPr lang="en-US" sz="1200" dirty="0">
                <a:solidFill>
                  <a:srgbClr val="4A463E"/>
                </a:solidFill>
                <a:latin typeface="DM Sans" pitchFamily="34" charset="0"/>
                <a:ea typeface="DM Sans" pitchFamily="34" charset="-122"/>
                <a:cs typeface="DM Sans" pitchFamily="34" charset="-120"/>
              </a:rPr>
              <a:t> or </a:t>
            </a:r>
            <a:r>
              <a:rPr lang="en-US" sz="1200" b="1" dirty="0">
                <a:solidFill>
                  <a:srgbClr val="4A463E"/>
                </a:solidFill>
                <a:latin typeface="DM Sans" pitchFamily="34" charset="0"/>
                <a:ea typeface="DM Sans" pitchFamily="34" charset="-122"/>
                <a:cs typeface="DM Sans" pitchFamily="34" charset="-120"/>
              </a:rPr>
              <a:t>ham</a:t>
            </a:r>
            <a:r>
              <a:rPr lang="en-US" sz="1200" dirty="0">
                <a:solidFill>
                  <a:srgbClr val="4A463E"/>
                </a:solidFill>
                <a:latin typeface="DM Sans" pitchFamily="34" charset="0"/>
                <a:ea typeface="DM Sans" pitchFamily="34" charset="-122"/>
                <a:cs typeface="DM Sans" pitchFamily="34" charset="-120"/>
              </a:rPr>
              <a:t>.</a:t>
            </a:r>
            <a:endParaRPr lang="en-US" sz="1200" dirty="0"/>
          </a:p>
        </p:txBody>
      </p:sp>
      <p:sp>
        <p:nvSpPr>
          <p:cNvPr id="14" name="Text 12"/>
          <p:cNvSpPr/>
          <p:nvPr/>
        </p:nvSpPr>
        <p:spPr>
          <a:xfrm>
            <a:off x="812788" y="6238280"/>
            <a:ext cx="6540485"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65C"/>
                </a:solidFill>
                <a:latin typeface="DM Sans" pitchFamily="34" charset="0"/>
                <a:ea typeface="DM Sans" pitchFamily="34" charset="-122"/>
                <a:cs typeface="DM Sans" pitchFamily="34" charset="-120"/>
              </a:rPr>
              <a:t>5350 Applied Deep Learning · MLOps</a:t>
            </a:r>
            <a:endParaRPr lang="en-US" sz="1200" dirty="0"/>
          </a:p>
        </p:txBody>
      </p:sp>
      <p:sp>
        <p:nvSpPr>
          <p:cNvPr id="15" name="Text 13"/>
          <p:cNvSpPr/>
          <p:nvPr/>
        </p:nvSpPr>
        <p:spPr>
          <a:xfrm>
            <a:off x="10058381" y="6238280"/>
            <a:ext cx="1320797"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65C"/>
                </a:solidFill>
                <a:latin typeface="DM Sans" pitchFamily="34" charset="0"/>
                <a:ea typeface="DM Sans" pitchFamily="34" charset="-122"/>
                <a:cs typeface="DM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A5C12"/>
                </a:solidFill>
                <a:latin typeface="DM Sans" pitchFamily="34" charset="0"/>
                <a:ea typeface="DM Sans" pitchFamily="34" charset="-122"/>
                <a:cs typeface="DM Sans" pitchFamily="34" charset="-120"/>
              </a:rPr>
              <a:t>LESSON FROM LAB 1</a:t>
            </a:r>
            <a:endParaRPr lang="en-US" sz="1200" dirty="0"/>
          </a:p>
        </p:txBody>
      </p:sp>
      <p:sp>
        <p:nvSpPr>
          <p:cNvPr id="3" name="Text 1"/>
          <p:cNvSpPr/>
          <p:nvPr>
            <p:ph type="title"/>
          </p:nvPr>
        </p:nvSpPr>
        <p:spPr>
          <a:xfrm>
            <a:off x="812788" y="1127720"/>
            <a:ext cx="10883382" cy="528312"/>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1B18"/>
                </a:solidFill>
                <a:latin typeface="DM Sans" pitchFamily="34" charset="0"/>
                <a:ea typeface="DM Sans" pitchFamily="34" charset="-122"/>
                <a:cs typeface="DM Sans" pitchFamily="34" charset="-120"/>
              </a:rPr>
              <a:t>High accuracy can still be useless</a:t>
            </a:r>
            <a:endParaRPr lang="en-US" sz="3600" dirty="0"/>
          </a:p>
        </p:txBody>
      </p:sp>
      <p:sp>
        <p:nvSpPr>
          <p:cNvPr id="4" name="Shape 2"/>
          <p:cNvSpPr/>
          <p:nvPr/>
        </p:nvSpPr>
        <p:spPr>
          <a:xfrm>
            <a:off x="819138" y="1941764"/>
            <a:ext cx="5168882" cy="2393811"/>
          </a:xfrm>
          <a:prstGeom prst="roundRect">
            <a:avLst>
              <a:gd name="adj" fmla="val 5040"/>
            </a:avLst>
          </a:prstGeom>
          <a:solidFill>
            <a:srgbClr val="FFFDF8"/>
          </a:solidFill>
          <a:ln w="12700">
            <a:solidFill>
              <a:srgbClr val="E2DCCB"/>
            </a:solidFill>
            <a:prstDash val="solid"/>
          </a:ln>
        </p:spPr>
      </p:sp>
      <p:sp>
        <p:nvSpPr>
          <p:cNvPr id="5" name="Text 3"/>
          <p:cNvSpPr/>
          <p:nvPr/>
        </p:nvSpPr>
        <p:spPr>
          <a:xfrm>
            <a:off x="1078848" y="2201475"/>
            <a:ext cx="4788945" cy="36063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D1B18"/>
                </a:solidFill>
                <a:latin typeface="DM Sans" pitchFamily="34" charset="0"/>
                <a:ea typeface="DM Sans" pitchFamily="34" charset="-122"/>
                <a:cs typeface="DM Sans" pitchFamily="34" charset="-120"/>
              </a:rPr>
              <a:t>Model v2</a:t>
            </a:r>
            <a:endParaRPr lang="en-US" sz="2200" dirty="0"/>
          </a:p>
        </p:txBody>
      </p:sp>
      <p:sp>
        <p:nvSpPr>
          <p:cNvPr id="6" name="Text 4"/>
          <p:cNvSpPr/>
          <p:nvPr/>
        </p:nvSpPr>
        <p:spPr>
          <a:xfrm>
            <a:off x="1078848" y="2638304"/>
            <a:ext cx="4788945"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63E"/>
                </a:solidFill>
                <a:latin typeface="DM Sans" pitchFamily="34" charset="0"/>
                <a:ea typeface="DM Sans" pitchFamily="34" charset="-122"/>
                <a:cs typeface="DM Sans" pitchFamily="34" charset="-120"/>
              </a:rPr>
              <a:t>Imbalanced data: about 88% ham, 12% spam</a:t>
            </a:r>
            <a:endParaRPr lang="en-US" sz="1200" dirty="0"/>
          </a:p>
        </p:txBody>
      </p:sp>
      <p:sp>
        <p:nvSpPr>
          <p:cNvPr id="7" name="Text 5"/>
          <p:cNvSpPr/>
          <p:nvPr/>
        </p:nvSpPr>
        <p:spPr>
          <a:xfrm>
            <a:off x="1078848" y="2953237"/>
            <a:ext cx="2315991" cy="695949"/>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1D1B18"/>
                </a:solidFill>
                <a:latin typeface="DM Sans" pitchFamily="34" charset="0"/>
                <a:ea typeface="DM Sans" pitchFamily="34" charset="-122"/>
                <a:cs typeface="DM Sans" pitchFamily="34" charset="-120"/>
              </a:rPr>
              <a:t>~84%</a:t>
            </a:r>
            <a:endParaRPr lang="en-US" sz="4800" dirty="0"/>
          </a:p>
        </p:txBody>
      </p:sp>
      <p:sp>
        <p:nvSpPr>
          <p:cNvPr id="8" name="Text 6"/>
          <p:cNvSpPr/>
          <p:nvPr/>
        </p:nvSpPr>
        <p:spPr>
          <a:xfrm>
            <a:off x="1078848" y="3649185"/>
            <a:ext cx="2315991"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63E"/>
                </a:solidFill>
                <a:latin typeface="DM Sans" pitchFamily="34" charset="0"/>
                <a:ea typeface="DM Sans" pitchFamily="34" charset="-122"/>
                <a:cs typeface="DM Sans" pitchFamily="34" charset="-120"/>
              </a:rPr>
              <a:t>accuracy</a:t>
            </a:r>
            <a:endParaRPr lang="en-US" sz="1200" dirty="0"/>
          </a:p>
        </p:txBody>
      </p:sp>
      <p:sp>
        <p:nvSpPr>
          <p:cNvPr id="9" name="Text 7"/>
          <p:cNvSpPr/>
          <p:nvPr/>
        </p:nvSpPr>
        <p:spPr>
          <a:xfrm>
            <a:off x="3479774" y="2953237"/>
            <a:ext cx="2315991" cy="695949"/>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A3361F"/>
                </a:solidFill>
                <a:latin typeface="DM Sans" pitchFamily="34" charset="0"/>
                <a:ea typeface="DM Sans" pitchFamily="34" charset="-122"/>
                <a:cs typeface="DM Sans" pitchFamily="34" charset="-120"/>
              </a:rPr>
              <a:t>0%</a:t>
            </a:r>
            <a:endParaRPr lang="en-US" sz="4800" dirty="0"/>
          </a:p>
        </p:txBody>
      </p:sp>
      <p:sp>
        <p:nvSpPr>
          <p:cNvPr id="10" name="Text 8"/>
          <p:cNvSpPr/>
          <p:nvPr/>
        </p:nvSpPr>
        <p:spPr>
          <a:xfrm>
            <a:off x="3479774" y="3649185"/>
            <a:ext cx="2315991" cy="45207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3361F"/>
                </a:solidFill>
                <a:latin typeface="DM Sans" pitchFamily="34" charset="0"/>
                <a:ea typeface="DM Sans" pitchFamily="34" charset="-122"/>
                <a:cs typeface="DM Sans" pitchFamily="34" charset="-120"/>
              </a:rPr>
              <a:t>spam recall: misses every spam</a:t>
            </a:r>
            <a:endParaRPr lang="en-US" sz="1200" dirty="0"/>
          </a:p>
        </p:txBody>
      </p:sp>
      <p:sp>
        <p:nvSpPr>
          <p:cNvPr id="11" name="Shape 9"/>
          <p:cNvSpPr/>
          <p:nvPr/>
        </p:nvSpPr>
        <p:spPr>
          <a:xfrm>
            <a:off x="6203907" y="1941764"/>
            <a:ext cx="5168920" cy="2393811"/>
          </a:xfrm>
          <a:prstGeom prst="roundRect">
            <a:avLst>
              <a:gd name="adj" fmla="val 5040"/>
            </a:avLst>
          </a:prstGeom>
          <a:solidFill>
            <a:srgbClr val="FFFDF8"/>
          </a:solidFill>
          <a:ln w="12700">
            <a:solidFill>
              <a:srgbClr val="CFB87C"/>
            </a:solidFill>
            <a:prstDash val="solid"/>
          </a:ln>
        </p:spPr>
      </p:sp>
      <p:sp>
        <p:nvSpPr>
          <p:cNvPr id="12" name="Text 10"/>
          <p:cNvSpPr/>
          <p:nvPr/>
        </p:nvSpPr>
        <p:spPr>
          <a:xfrm>
            <a:off x="6463618" y="2201475"/>
            <a:ext cx="4788983" cy="36063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D1B18"/>
                </a:solidFill>
                <a:latin typeface="DM Sans" pitchFamily="34" charset="0"/>
                <a:ea typeface="DM Sans" pitchFamily="34" charset="-122"/>
                <a:cs typeface="DM Sans" pitchFamily="34" charset="-120"/>
              </a:rPr>
              <a:t>Model v3</a:t>
            </a:r>
            <a:endParaRPr lang="en-US" sz="2200" dirty="0"/>
          </a:p>
        </p:txBody>
      </p:sp>
      <p:sp>
        <p:nvSpPr>
          <p:cNvPr id="13" name="Text 11"/>
          <p:cNvSpPr/>
          <p:nvPr/>
        </p:nvSpPr>
        <p:spPr>
          <a:xfrm>
            <a:off x="6463618" y="2638304"/>
            <a:ext cx="4788983"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63E"/>
                </a:solidFill>
                <a:latin typeface="DM Sans" pitchFamily="34" charset="0"/>
                <a:ea typeface="DM Sans" pitchFamily="34" charset="-122"/>
                <a:cs typeface="DM Sans" pitchFamily="34" charset="-120"/>
              </a:rPr>
              <a:t>Balanced data: 1,000 ham and 1,000 spam</a:t>
            </a:r>
            <a:endParaRPr lang="en-US" sz="1200" dirty="0"/>
          </a:p>
        </p:txBody>
      </p:sp>
      <p:sp>
        <p:nvSpPr>
          <p:cNvPr id="14" name="Text 12"/>
          <p:cNvSpPr/>
          <p:nvPr/>
        </p:nvSpPr>
        <p:spPr>
          <a:xfrm>
            <a:off x="6463618" y="2953237"/>
            <a:ext cx="2315991" cy="695949"/>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1D1B18"/>
                </a:solidFill>
                <a:latin typeface="DM Sans" pitchFamily="34" charset="0"/>
                <a:ea typeface="DM Sans" pitchFamily="34" charset="-122"/>
                <a:cs typeface="DM Sans" pitchFamily="34" charset="-120"/>
              </a:rPr>
              <a:t>~99%</a:t>
            </a:r>
            <a:endParaRPr lang="en-US" sz="4800" dirty="0"/>
          </a:p>
        </p:txBody>
      </p:sp>
      <p:sp>
        <p:nvSpPr>
          <p:cNvPr id="15" name="Text 13"/>
          <p:cNvSpPr/>
          <p:nvPr/>
        </p:nvSpPr>
        <p:spPr>
          <a:xfrm>
            <a:off x="6463618" y="3649185"/>
            <a:ext cx="2315991"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63E"/>
                </a:solidFill>
                <a:latin typeface="DM Sans" pitchFamily="34" charset="0"/>
                <a:ea typeface="DM Sans" pitchFamily="34" charset="-122"/>
                <a:cs typeface="DM Sans" pitchFamily="34" charset="-120"/>
              </a:rPr>
              <a:t>accuracy</a:t>
            </a:r>
            <a:endParaRPr lang="en-US" sz="1200" dirty="0"/>
          </a:p>
        </p:txBody>
      </p:sp>
      <p:sp>
        <p:nvSpPr>
          <p:cNvPr id="16" name="Text 14"/>
          <p:cNvSpPr/>
          <p:nvPr/>
        </p:nvSpPr>
        <p:spPr>
          <a:xfrm>
            <a:off x="8864544" y="2953237"/>
            <a:ext cx="2316030" cy="695949"/>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2F6B3A"/>
                </a:solidFill>
                <a:latin typeface="DM Sans" pitchFamily="34" charset="0"/>
                <a:ea typeface="DM Sans" pitchFamily="34" charset="-122"/>
                <a:cs typeface="DM Sans" pitchFamily="34" charset="-120"/>
              </a:rPr>
              <a:t>~98%</a:t>
            </a:r>
            <a:endParaRPr lang="en-US" sz="4800" dirty="0"/>
          </a:p>
        </p:txBody>
      </p:sp>
      <p:sp>
        <p:nvSpPr>
          <p:cNvPr id="17" name="Text 15"/>
          <p:cNvSpPr/>
          <p:nvPr/>
        </p:nvSpPr>
        <p:spPr>
          <a:xfrm>
            <a:off x="8864544" y="3649185"/>
            <a:ext cx="2316030"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B3A"/>
                </a:solidFill>
                <a:latin typeface="DM Sans" pitchFamily="34" charset="0"/>
                <a:ea typeface="DM Sans" pitchFamily="34" charset="-122"/>
                <a:cs typeface="DM Sans" pitchFamily="34" charset="-120"/>
              </a:rPr>
              <a:t>spam recall: catches spam</a:t>
            </a:r>
            <a:endParaRPr lang="en-US" sz="1200" dirty="0"/>
          </a:p>
        </p:txBody>
      </p:sp>
      <p:sp>
        <p:nvSpPr>
          <p:cNvPr id="18" name="Text 16"/>
          <p:cNvSpPr/>
          <p:nvPr/>
        </p:nvSpPr>
        <p:spPr>
          <a:xfrm>
            <a:off x="812788" y="4646706"/>
            <a:ext cx="10883382" cy="309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63E"/>
                </a:solidFill>
                <a:latin typeface="DM Sans" pitchFamily="34" charset="0"/>
                <a:ea typeface="DM Sans" pitchFamily="34" charset="-122"/>
                <a:cs typeface="DM Sans" pitchFamily="34" charset="-120"/>
              </a:rPr>
              <a:t>v2 learned to answer “ham” every time. </a:t>
            </a:r>
            <a:r>
              <a:rPr lang="en-US" sz="1600" b="1" dirty="0">
                <a:solidFill>
                  <a:srgbClr val="1D1B18"/>
                </a:solidFill>
                <a:latin typeface="DM Sans" pitchFamily="34" charset="0"/>
                <a:ea typeface="DM Sans" pitchFamily="34" charset="-122"/>
                <a:cs typeface="DM Sans" pitchFamily="34" charset="-120"/>
              </a:rPr>
              <a:t>Always check recall and the confusion matrix</a:t>
            </a:r>
            <a:r>
              <a:rPr lang="en-US" sz="1600" dirty="0">
                <a:solidFill>
                  <a:srgbClr val="4A463E"/>
                </a:solidFill>
                <a:latin typeface="DM Sans" pitchFamily="34" charset="0"/>
                <a:ea typeface="DM Sans" pitchFamily="34" charset="-122"/>
                <a:cs typeface="DM Sans" pitchFamily="34" charset="-120"/>
              </a:rPr>
              <a:t>, not just accuracy.</a:t>
            </a:r>
            <a:endParaRPr lang="en-US" sz="1600" dirty="0"/>
          </a:p>
        </p:txBody>
      </p:sp>
      <p:sp>
        <p:nvSpPr>
          <p:cNvPr id="19" name="Text 17"/>
          <p:cNvSpPr/>
          <p:nvPr/>
        </p:nvSpPr>
        <p:spPr>
          <a:xfrm>
            <a:off x="812788" y="6238277"/>
            <a:ext cx="6540485"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65C"/>
                </a:solidFill>
                <a:latin typeface="DM Sans" pitchFamily="34" charset="0"/>
                <a:ea typeface="DM Sans" pitchFamily="34" charset="-122"/>
                <a:cs typeface="DM Sans" pitchFamily="34" charset="-120"/>
              </a:rPr>
              <a:t>5350 Applied Deep Learning · MLOps</a:t>
            </a:r>
            <a:endParaRPr lang="en-US" sz="1200" dirty="0"/>
          </a:p>
        </p:txBody>
      </p:sp>
      <p:sp>
        <p:nvSpPr>
          <p:cNvPr id="20" name="Text 18"/>
          <p:cNvSpPr/>
          <p:nvPr/>
        </p:nvSpPr>
        <p:spPr>
          <a:xfrm>
            <a:off x="10058381" y="6238277"/>
            <a:ext cx="1320797"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65C"/>
                </a:solidFill>
                <a:latin typeface="DM Sans" pitchFamily="34" charset="0"/>
                <a:ea typeface="DM Sans" pitchFamily="34" charset="-122"/>
                <a:cs typeface="DM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FEBE0"/>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A5C12"/>
                </a:solidFill>
                <a:latin typeface="DM Sans" pitchFamily="34" charset="0"/>
                <a:ea typeface="DM Sans" pitchFamily="34" charset="-122"/>
                <a:cs typeface="DM Sans" pitchFamily="34" charset="-120"/>
              </a:rPr>
              <a:t>MLOPS MATURITY MODEL</a:t>
            </a:r>
            <a:endParaRPr lang="en-US" sz="1200" dirty="0"/>
          </a:p>
        </p:txBody>
      </p:sp>
      <p:sp>
        <p:nvSpPr>
          <p:cNvPr id="3" name="Text 1"/>
          <p:cNvSpPr/>
          <p:nvPr>
            <p:ph type="title"/>
          </p:nvPr>
        </p:nvSpPr>
        <p:spPr>
          <a:xfrm>
            <a:off x="812788" y="1127720"/>
            <a:ext cx="10883382" cy="528312"/>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1B18"/>
                </a:solidFill>
                <a:latin typeface="DM Sans" pitchFamily="34" charset="0"/>
                <a:ea typeface="DM Sans" pitchFamily="34" charset="-122"/>
                <a:cs typeface="DM Sans" pitchFamily="34" charset="-120"/>
              </a:rPr>
              <a:t>Our class climbs the maturity ladder</a:t>
            </a:r>
            <a:endParaRPr lang="en-US" sz="3600" dirty="0"/>
          </a:p>
        </p:txBody>
      </p:sp>
      <p:sp>
        <p:nvSpPr>
          <p:cNvPr id="4" name="Shape 2"/>
          <p:cNvSpPr/>
          <p:nvPr/>
        </p:nvSpPr>
        <p:spPr>
          <a:xfrm>
            <a:off x="812788" y="1935414"/>
            <a:ext cx="10566390" cy="3208656"/>
          </a:xfrm>
          <a:prstGeom prst="roundRect">
            <a:avLst>
              <a:gd name="adj" fmla="val 3166"/>
            </a:avLst>
          </a:prstGeom>
          <a:solidFill>
            <a:srgbClr val="FFFDF8"/>
          </a:solidFill>
          <a:ln/>
        </p:spPr>
      </p:sp>
      <p:sp>
        <p:nvSpPr>
          <p:cNvPr id="5" name="Shape 3"/>
          <p:cNvSpPr/>
          <p:nvPr/>
        </p:nvSpPr>
        <p:spPr>
          <a:xfrm>
            <a:off x="812788" y="1935414"/>
            <a:ext cx="10566390" cy="3208656"/>
          </a:xfrm>
          <a:custGeom>
            <a:avLst/>
            <a:gdLst/>
            <a:ahLst/>
            <a:cxnLst/>
            <a:rect l="l" t="t" r="r" b="b"/>
            <a:pathLst>
              <a:path w="10566390" h="3208656">
                <a:moveTo>
                  <a:pt x="101600" y="3208656"/>
                </a:moveTo>
                <a:lnTo>
                  <a:pt x="101600" y="3208656"/>
                </a:lnTo>
                <a:arcTo hR="101600" wR="101600" stAng="5400000" swAng="5400000"/>
                <a:lnTo>
                  <a:pt x="0" y="101600"/>
                </a:lnTo>
                <a:arcTo hR="101600" wR="101600" stAng="10800000" swAng="5400000"/>
                <a:lnTo>
                  <a:pt x="10464790" y="0"/>
                </a:lnTo>
                <a:arcTo hR="101600" wR="101600" stAng="16200000" swAng="5400000"/>
                <a:lnTo>
                  <a:pt x="10566390" y="101600"/>
                </a:lnTo>
                <a:arcTo hR="89524" wR="101600" stAng="0" swAng="-5400000"/>
                <a:lnTo>
                  <a:pt x="101600" y="12076"/>
                </a:lnTo>
                <a:arcTo hR="89524" wR="89524" stAng="16200000" swAng="-5400000"/>
                <a:lnTo>
                  <a:pt x="12076" y="3107056"/>
                </a:lnTo>
                <a:arcTo hR="101600" wR="89524" stAng="10800000" swAng="-5400000"/>
                <a:close/>
              </a:path>
            </a:pathLst>
          </a:custGeom>
          <a:solidFill>
            <a:srgbClr val="141413">
              <a:alpha val="22000"/>
            </a:srgbClr>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4864" y="1947490"/>
          <a:ext cx="10554313" cy="3196580"/>
        </p:xfrm>
        <a:graphic>
          <a:graphicData uri="http://schemas.openxmlformats.org/drawingml/2006/table">
            <a:tbl>
              <a:tblPr/>
              <a:tblGrid>
                <a:gridCol w="3377380"/>
                <a:gridCol w="4010639"/>
                <a:gridCol w="3166294"/>
              </a:tblGrid>
              <a:tr h="532763">
                <a:tc>
                  <a:txBody>
                    <a:bodyPr/>
                    <a:lstStyle/>
                    <a:p>
                      <a:pPr indent="0" marL="0">
                        <a:lnSpc>
                          <a:spcPts val="2100"/>
                        </a:lnSpc>
                        <a:buNone/>
                      </a:pPr>
                      <a:r>
                        <a:rPr lang="en-US" sz="1500" b="1" dirty="0">
                          <a:solidFill>
                            <a:srgbClr val="CFB87C"/>
                          </a:solidFill>
                          <a:latin typeface="DM Sans" pitchFamily="34" charset="0"/>
                          <a:ea typeface="DM Sans" pitchFamily="34" charset="-122"/>
                          <a:cs typeface="DM Sans" pitchFamily="34" charset="-120"/>
                        </a:rPr>
                        <a:t>Level</a:t>
                      </a:r>
                      <a:endParaRPr lang="en-US" sz="1500" dirty="0">
                        <a:latin typeface="DM Sans" charset="0"/>
                        <a:ea typeface="DM Sans" charset="0"/>
                        <a:cs typeface="DM Sans" charset="0"/>
                      </a:endParaRPr>
                    </a:p>
                  </a:txBody>
                  <a:tcPr marL="177800" marR="177800" marT="127000" marB="127000" anchor="t">
                    <a:lnL w="0" cap="flat" cmpd="sng" algn="ctr">
                      <a:noFill/>
                    </a:lnL>
                    <a:lnR w="12700" cap="flat" cmpd="sng" algn="ctr">
                      <a:solidFill>
                        <a:srgbClr val="1B1917"/>
                      </a:solidFill>
                      <a:prstDash val="solid"/>
                      <a:round/>
                      <a:headEnd type="none" w="med" len="med"/>
                      <a:tailEnd type="none" w="med" len="med"/>
                    </a:lnR>
                    <a:lnT w="0" cap="flat" cmpd="sng" algn="ctr">
                      <a:noFill/>
                    </a:lnT>
                    <a:lnB w="12700" cap="flat" cmpd="sng" algn="ctr">
                      <a:solidFill>
                        <a:srgbClr val="1B1917"/>
                      </a:solidFill>
                      <a:prstDash val="solid"/>
                      <a:round/>
                      <a:headEnd type="none" w="med" len="med"/>
                      <a:tailEnd type="none" w="med" len="med"/>
                    </a:lnB>
                    <a:solidFill>
                      <a:srgbClr val="1D1B18"/>
                    </a:solidFill>
                  </a:tcPr>
                </a:tc>
                <a:tc>
                  <a:txBody>
                    <a:bodyPr/>
                    <a:lstStyle/>
                    <a:p>
                      <a:pPr indent="0" marL="0">
                        <a:lnSpc>
                          <a:spcPts val="2100"/>
                        </a:lnSpc>
                        <a:buNone/>
                      </a:pPr>
                      <a:r>
                        <a:rPr lang="en-US" sz="1500" b="1" dirty="0">
                          <a:solidFill>
                            <a:srgbClr val="CFB87C"/>
                          </a:solidFill>
                          <a:latin typeface="DM Sans" pitchFamily="34" charset="0"/>
                          <a:ea typeface="DM Sans" pitchFamily="34" charset="-122"/>
                          <a:cs typeface="DM Sans" pitchFamily="34" charset="-120"/>
                        </a:rPr>
                        <a:t>What it looks like</a:t>
                      </a:r>
                      <a:endParaRPr lang="en-US" sz="1500" dirty="0">
                        <a:latin typeface="DM Sans" charset="0"/>
                        <a:ea typeface="DM Sans" charset="0"/>
                        <a:cs typeface="DM Sans" charset="0"/>
                      </a:endParaRPr>
                    </a:p>
                  </a:txBody>
                  <a:tcPr marL="177800" marR="177800" marT="127000" marB="127000" anchor="t">
                    <a:lnL w="12700" cap="flat" cmpd="sng" algn="ctr">
                      <a:solidFill>
                        <a:srgbClr val="1B1917"/>
                      </a:solidFill>
                      <a:prstDash val="solid"/>
                      <a:round/>
                      <a:headEnd type="none" w="med" len="med"/>
                      <a:tailEnd type="none" w="med" len="med"/>
                    </a:lnL>
                    <a:lnR w="12700" cap="flat" cmpd="sng" algn="ctr">
                      <a:solidFill>
                        <a:srgbClr val="1B1917"/>
                      </a:solidFill>
                      <a:prstDash val="solid"/>
                      <a:round/>
                      <a:headEnd type="none" w="med" len="med"/>
                      <a:tailEnd type="none" w="med" len="med"/>
                    </a:lnR>
                    <a:lnT w="0" cap="flat" cmpd="sng" algn="ctr">
                      <a:noFill/>
                    </a:lnT>
                    <a:lnB w="12700" cap="flat" cmpd="sng" algn="ctr">
                      <a:solidFill>
                        <a:srgbClr val="1B1917"/>
                      </a:solidFill>
                      <a:prstDash val="solid"/>
                      <a:round/>
                      <a:headEnd type="none" w="med" len="med"/>
                      <a:tailEnd type="none" w="med" len="med"/>
                    </a:lnB>
                    <a:solidFill>
                      <a:srgbClr val="1D1B18"/>
                    </a:solidFill>
                  </a:tcPr>
                </a:tc>
                <a:tc>
                  <a:txBody>
                    <a:bodyPr/>
                    <a:lstStyle/>
                    <a:p>
                      <a:pPr indent="0" marL="0">
                        <a:lnSpc>
                          <a:spcPts val="2100"/>
                        </a:lnSpc>
                        <a:buNone/>
                      </a:pPr>
                      <a:r>
                        <a:rPr lang="en-US" sz="1500" b="1" dirty="0">
                          <a:solidFill>
                            <a:srgbClr val="CFB87C"/>
                          </a:solidFill>
                          <a:latin typeface="DM Sans" pitchFamily="34" charset="0"/>
                          <a:ea typeface="DM Sans" pitchFamily="34" charset="-122"/>
                          <a:cs typeface="DM Sans" pitchFamily="34" charset="-120"/>
                        </a:rPr>
                        <a:t>Our class step</a:t>
                      </a:r>
                      <a:endParaRPr lang="en-US" sz="1500" dirty="0">
                        <a:latin typeface="DM Sans" charset="0"/>
                        <a:ea typeface="DM Sans" charset="0"/>
                        <a:cs typeface="DM Sans" charset="0"/>
                      </a:endParaRPr>
                    </a:p>
                  </a:txBody>
                  <a:tcPr marL="177800" marR="177800" marT="127000" marB="127000" anchor="t">
                    <a:lnL w="12700" cap="flat" cmpd="sng" algn="ctr">
                      <a:solidFill>
                        <a:srgbClr val="1B1917"/>
                      </a:solidFill>
                      <a:prstDash val="solid"/>
                      <a:round/>
                      <a:headEnd type="none" w="med" len="med"/>
                      <a:tailEnd type="none" w="med" len="med"/>
                    </a:lnL>
                    <a:lnR w="12700" cap="flat" cmpd="sng" algn="ctr">
                      <a:solidFill>
                        <a:srgbClr val="1B1917"/>
                      </a:solidFill>
                      <a:prstDash val="solid"/>
                      <a:round/>
                      <a:headEnd type="none" w="med" len="med"/>
                      <a:tailEnd type="none" w="med" len="med"/>
                    </a:lnR>
                    <a:lnT w="0" cap="flat" cmpd="sng" algn="ctr">
                      <a:noFill/>
                    </a:lnT>
                    <a:lnB w="12700" cap="flat" cmpd="sng" algn="ctr">
                      <a:solidFill>
                        <a:srgbClr val="1B1917"/>
                      </a:solidFill>
                      <a:prstDash val="solid"/>
                      <a:round/>
                      <a:headEnd type="none" w="med" len="med"/>
                      <a:tailEnd type="none" w="med" len="med"/>
                    </a:lnB>
                    <a:solidFill>
                      <a:srgbClr val="1D1B18"/>
                    </a:solidFill>
                  </a:tcPr>
                </a:tc>
              </a:tr>
              <a:tr h="532763">
                <a:tc>
                  <a:txBody>
                    <a:bodyPr/>
                    <a:lstStyle/>
                    <a:p>
                      <a:pPr indent="0" marL="0">
                        <a:lnSpc>
                          <a:spcPts val="2100"/>
                        </a:lnSpc>
                        <a:buNone/>
                      </a:pPr>
                      <a:r>
                        <a:rPr lang="en-US" sz="1500" dirty="0">
                          <a:solidFill>
                            <a:srgbClr val="1D1B18"/>
                          </a:solidFill>
                          <a:latin typeface="DM Sans" pitchFamily="34" charset="0"/>
                          <a:ea typeface="DM Sans" pitchFamily="34" charset="-122"/>
                          <a:cs typeface="DM Sans" pitchFamily="34" charset="-120"/>
                        </a:rPr>
                        <a:t>0 · No MLOps</a:t>
                      </a:r>
                      <a:endParaRPr lang="en-US" sz="1500" dirty="0">
                        <a:latin typeface="DM Sans" charset="0"/>
                        <a:ea typeface="DM Sans" charset="0"/>
                        <a:cs typeface="DM Sans" charset="0"/>
                      </a:endParaRPr>
                    </a:p>
                  </a:txBody>
                  <a:tcPr marL="177800" marR="177800" marT="127000" marB="127000" anchor="t">
                    <a:lnL w="0" cap="flat" cmpd="sng" algn="ctr">
                      <a:noFill/>
                    </a:lnL>
                    <a:lnR w="12700" cap="flat" cmpd="sng" algn="ctr">
                      <a:solidFill>
                        <a:srgbClr val="CBCAC6"/>
                      </a:solidFill>
                      <a:prstDash val="solid"/>
                      <a:round/>
                      <a:headEnd type="none" w="med" len="med"/>
                      <a:tailEnd type="none" w="med" len="med"/>
                    </a:lnR>
                    <a:lnT w="12700" cap="flat" cmpd="sng" algn="ctr">
                      <a:solidFill>
                        <a:srgbClr val="1B1917"/>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100"/>
                        </a:lnSpc>
                        <a:buNone/>
                      </a:pPr>
                      <a:r>
                        <a:rPr lang="en-US" sz="1500" dirty="0">
                          <a:solidFill>
                            <a:srgbClr val="1D1B18"/>
                          </a:solidFill>
                          <a:latin typeface="DM Sans" pitchFamily="34" charset="0"/>
                          <a:ea typeface="DM Sans" pitchFamily="34" charset="-122"/>
                          <a:cs typeface="DM Sans" pitchFamily="34" charset="-120"/>
                        </a:rPr>
                        <a:t>Manual notebooks</a:t>
                      </a:r>
                      <a:endParaRPr lang="en-US" sz="1500" dirty="0">
                        <a:latin typeface="DM Sans" charset="0"/>
                        <a:ea typeface="DM Sans" charset="0"/>
                        <a:cs typeface="DM Sans" charset="0"/>
                      </a:endParaRPr>
                    </a:p>
                  </a:txBody>
                  <a:tcPr marL="177800" marR="177800" marT="127000" marB="1270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B1917"/>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100"/>
                        </a:lnSpc>
                        <a:buNone/>
                      </a:pPr>
                      <a:r>
                        <a:rPr lang="en-US" sz="1500" dirty="0">
                          <a:solidFill>
                            <a:srgbClr val="1D1B18"/>
                          </a:solidFill>
                          <a:latin typeface="DM Sans" pitchFamily="34" charset="0"/>
                          <a:ea typeface="DM Sans" pitchFamily="34" charset="-122"/>
                          <a:cs typeface="DM Sans" pitchFamily="34" charset="-120"/>
                        </a:rPr>
                        <a:t>Train locally</a:t>
                      </a:r>
                      <a:endParaRPr lang="en-US" sz="1500" dirty="0">
                        <a:latin typeface="DM Sans" charset="0"/>
                        <a:ea typeface="DM Sans" charset="0"/>
                        <a:cs typeface="DM Sans" charset="0"/>
                      </a:endParaRPr>
                    </a:p>
                  </a:txBody>
                  <a:tcPr marL="177800" marR="177800" marT="127000" marB="1270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B1917"/>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532763">
                <a:tc>
                  <a:txBody>
                    <a:bodyPr/>
                    <a:lstStyle/>
                    <a:p>
                      <a:pPr indent="0" marL="0">
                        <a:lnSpc>
                          <a:spcPts val="2100"/>
                        </a:lnSpc>
                        <a:buNone/>
                      </a:pPr>
                      <a:r>
                        <a:rPr lang="en-US" sz="1500" dirty="0">
                          <a:solidFill>
                            <a:srgbClr val="1D1B18"/>
                          </a:solidFill>
                          <a:latin typeface="DM Sans" pitchFamily="34" charset="0"/>
                          <a:ea typeface="DM Sans" pitchFamily="34" charset="-122"/>
                          <a:cs typeface="DM Sans" pitchFamily="34" charset="-120"/>
                        </a:rPr>
                        <a:t>1 · DevOps, no MLOps</a:t>
                      </a:r>
                      <a:endParaRPr lang="en-US" sz="1500" dirty="0">
                        <a:latin typeface="DM Sans" charset="0"/>
                        <a:ea typeface="DM Sans" charset="0"/>
                        <a:cs typeface="DM Sans" charset="0"/>
                      </a:endParaRPr>
                    </a:p>
                  </a:txBody>
                  <a:tcPr marL="177800" marR="177800" marT="127000" marB="127000" anchor="t">
                    <a:lnL w="0" cap="flat" cmpd="sng" algn="ctr">
                      <a:noFill/>
                    </a:lnL>
                    <a:lnR w="12700" cap="flat" cmpd="sng" algn="ctr">
                      <a:solidFill>
                        <a:srgbClr val="C5C4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5C4BF"/>
                      </a:solidFill>
                      <a:prstDash val="solid"/>
                      <a:round/>
                      <a:headEnd type="none" w="med" len="med"/>
                      <a:tailEnd type="none" w="med" len="med"/>
                    </a:lnB>
                    <a:solidFill>
                      <a:srgbClr val="F7F5EF"/>
                    </a:solidFill>
                  </a:tcPr>
                </a:tc>
                <a:tc>
                  <a:txBody>
                    <a:bodyPr/>
                    <a:lstStyle/>
                    <a:p>
                      <a:pPr indent="0" marL="0">
                        <a:lnSpc>
                          <a:spcPts val="2100"/>
                        </a:lnSpc>
                        <a:buNone/>
                      </a:pPr>
                      <a:r>
                        <a:rPr lang="en-US" sz="1500" dirty="0">
                          <a:solidFill>
                            <a:srgbClr val="1D1B18"/>
                          </a:solidFill>
                          <a:latin typeface="DM Sans" pitchFamily="34" charset="0"/>
                          <a:ea typeface="DM Sans" pitchFamily="34" charset="-122"/>
                          <a:cs typeface="DM Sans" pitchFamily="34" charset="-120"/>
                        </a:rPr>
                        <a:t>Manual hand-off to a server</a:t>
                      </a:r>
                      <a:endParaRPr lang="en-US" sz="1500" dirty="0">
                        <a:latin typeface="DM Sans" charset="0"/>
                        <a:ea typeface="DM Sans" charset="0"/>
                        <a:cs typeface="DM Sans" charset="0"/>
                      </a:endParaRPr>
                    </a:p>
                  </a:txBody>
                  <a:tcPr marL="177800" marR="177800" marT="127000" marB="12700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5C4BF"/>
                      </a:solidFill>
                      <a:prstDash val="solid"/>
                      <a:round/>
                      <a:headEnd type="none" w="med" len="med"/>
                      <a:tailEnd type="none" w="med" len="med"/>
                    </a:lnB>
                    <a:solidFill>
                      <a:srgbClr val="F7F5EF"/>
                    </a:solidFill>
                  </a:tcPr>
                </a:tc>
                <a:tc>
                  <a:txBody>
                    <a:bodyPr/>
                    <a:lstStyle/>
                    <a:p>
                      <a:pPr indent="0" marL="0">
                        <a:lnSpc>
                          <a:spcPts val="2100"/>
                        </a:lnSpc>
                        <a:buNone/>
                      </a:pPr>
                      <a:r>
                        <a:rPr lang="en-US" sz="1500" dirty="0">
                          <a:solidFill>
                            <a:srgbClr val="1D1B18"/>
                          </a:solidFill>
                          <a:latin typeface="DM Sans" pitchFamily="34" charset="0"/>
                          <a:ea typeface="DM Sans" pitchFamily="34" charset="-122"/>
                          <a:cs typeface="DM Sans" pitchFamily="34" charset="-120"/>
                        </a:rPr>
                        <a:t>Cloud VM</a:t>
                      </a:r>
                      <a:endParaRPr lang="en-US" sz="1500" dirty="0">
                        <a:latin typeface="DM Sans" charset="0"/>
                        <a:ea typeface="DM Sans" charset="0"/>
                        <a:cs typeface="DM Sans" charset="0"/>
                      </a:endParaRPr>
                    </a:p>
                  </a:txBody>
                  <a:tcPr marL="177800" marR="177800" marT="127000" marB="12700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5C4BF"/>
                      </a:solidFill>
                      <a:prstDash val="solid"/>
                      <a:round/>
                      <a:headEnd type="none" w="med" len="med"/>
                      <a:tailEnd type="none" w="med" len="med"/>
                    </a:lnB>
                    <a:solidFill>
                      <a:srgbClr val="F7F5EF"/>
                    </a:solidFill>
                  </a:tcPr>
                </a:tc>
              </a:tr>
              <a:tr h="532763">
                <a:tc>
                  <a:txBody>
                    <a:bodyPr/>
                    <a:lstStyle/>
                    <a:p>
                      <a:pPr indent="0" marL="0">
                        <a:lnSpc>
                          <a:spcPts val="2100"/>
                        </a:lnSpc>
                        <a:buNone/>
                      </a:pPr>
                      <a:r>
                        <a:rPr lang="en-US" sz="1500" dirty="0">
                          <a:solidFill>
                            <a:srgbClr val="1D1B18"/>
                          </a:solidFill>
                          <a:latin typeface="DM Sans" pitchFamily="34" charset="0"/>
                          <a:ea typeface="DM Sans" pitchFamily="34" charset="-122"/>
                          <a:cs typeface="DM Sans" pitchFamily="34" charset="-120"/>
                        </a:rPr>
                        <a:t>2 · Automated training</a:t>
                      </a:r>
                      <a:endParaRPr lang="en-US" sz="1500" dirty="0">
                        <a:latin typeface="DM Sans" charset="0"/>
                        <a:ea typeface="DM Sans" charset="0"/>
                        <a:cs typeface="DM Sans" charset="0"/>
                      </a:endParaRPr>
                    </a:p>
                  </a:txBody>
                  <a:tcPr marL="177800" marR="177800" marT="127000" marB="127000" anchor="t">
                    <a:lnL w="0" cap="flat" cmpd="sng" algn="ctr">
                      <a:noFill/>
                    </a:lnL>
                    <a:lnR w="12700" cap="flat" cmpd="sng" algn="ctr">
                      <a:solidFill>
                        <a:srgbClr val="CBCAC6"/>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100"/>
                        </a:lnSpc>
                        <a:buNone/>
                      </a:pPr>
                      <a:r>
                        <a:rPr lang="en-US" sz="1500" dirty="0">
                          <a:solidFill>
                            <a:srgbClr val="1D1B18"/>
                          </a:solidFill>
                          <a:latin typeface="DM Sans" pitchFamily="34" charset="0"/>
                          <a:ea typeface="DM Sans" pitchFamily="34" charset="-122"/>
                          <a:cs typeface="DM Sans" pitchFamily="34" charset="-120"/>
                        </a:rPr>
                        <a:t>Repeatable, versioned training</a:t>
                      </a:r>
                      <a:endParaRPr lang="en-US" sz="1500" dirty="0">
                        <a:latin typeface="DM Sans" charset="0"/>
                        <a:ea typeface="DM Sans" charset="0"/>
                        <a:cs typeface="DM Sans" charset="0"/>
                      </a:endParaRPr>
                    </a:p>
                  </a:txBody>
                  <a:tcPr marL="177800" marR="177800" marT="127000" marB="1270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100"/>
                        </a:lnSpc>
                        <a:buNone/>
                      </a:pPr>
                      <a:r>
                        <a:rPr lang="en-US" sz="1500" dirty="0">
                          <a:solidFill>
                            <a:srgbClr val="1D1B18"/>
                          </a:solidFill>
                          <a:latin typeface="DM Sans" pitchFamily="34" charset="0"/>
                          <a:ea typeface="DM Sans" pitchFamily="34" charset="-122"/>
                          <a:cs typeface="DM Sans" pitchFamily="34" charset="-120"/>
                        </a:rPr>
                        <a:t>Docker container</a:t>
                      </a:r>
                      <a:endParaRPr lang="en-US" sz="1500" dirty="0">
                        <a:latin typeface="DM Sans" charset="0"/>
                        <a:ea typeface="DM Sans" charset="0"/>
                        <a:cs typeface="DM Sans" charset="0"/>
                      </a:endParaRPr>
                    </a:p>
                  </a:txBody>
                  <a:tcPr marL="177800" marR="177800" marT="127000" marB="1270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532763">
                <a:tc>
                  <a:txBody>
                    <a:bodyPr/>
                    <a:lstStyle/>
                    <a:p>
                      <a:pPr indent="0" marL="0">
                        <a:lnSpc>
                          <a:spcPts val="2100"/>
                        </a:lnSpc>
                        <a:buNone/>
                      </a:pPr>
                      <a:r>
                        <a:rPr lang="en-US" sz="1500" dirty="0">
                          <a:solidFill>
                            <a:srgbClr val="1D1B18"/>
                          </a:solidFill>
                          <a:latin typeface="DM Sans" pitchFamily="34" charset="0"/>
                          <a:ea typeface="DM Sans" pitchFamily="34" charset="-122"/>
                          <a:cs typeface="DM Sans" pitchFamily="34" charset="-120"/>
                        </a:rPr>
                        <a:t>3 · Automated deployment</a:t>
                      </a:r>
                      <a:endParaRPr lang="en-US" sz="1500" dirty="0">
                        <a:latin typeface="DM Sans" charset="0"/>
                        <a:ea typeface="DM Sans" charset="0"/>
                        <a:cs typeface="DM Sans" charset="0"/>
                      </a:endParaRPr>
                    </a:p>
                  </a:txBody>
                  <a:tcPr marL="177800" marR="177800" marT="127000" marB="127000" anchor="t">
                    <a:lnL w="0" cap="flat" cmpd="sng" algn="ctr">
                      <a:noFill/>
                    </a:lnL>
                    <a:lnR w="12700" cap="flat" cmpd="sng" algn="ctr">
                      <a:solidFill>
                        <a:srgbClr val="C5C4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5C4BF"/>
                      </a:solidFill>
                      <a:prstDash val="solid"/>
                      <a:round/>
                      <a:headEnd type="none" w="med" len="med"/>
                      <a:tailEnd type="none" w="med" len="med"/>
                    </a:lnB>
                    <a:solidFill>
                      <a:srgbClr val="F7F5EF"/>
                    </a:solidFill>
                  </a:tcPr>
                </a:tc>
                <a:tc>
                  <a:txBody>
                    <a:bodyPr/>
                    <a:lstStyle/>
                    <a:p>
                      <a:pPr indent="0" marL="0">
                        <a:lnSpc>
                          <a:spcPts val="2100"/>
                        </a:lnSpc>
                        <a:buNone/>
                      </a:pPr>
                      <a:r>
                        <a:rPr lang="en-US" sz="1500" dirty="0">
                          <a:solidFill>
                            <a:srgbClr val="1D1B18"/>
                          </a:solidFill>
                          <a:latin typeface="DM Sans" pitchFamily="34" charset="0"/>
                          <a:ea typeface="DM Sans" pitchFamily="34" charset="-122"/>
                          <a:cs typeface="DM Sans" pitchFamily="34" charset="-120"/>
                        </a:rPr>
                        <a:t>CI/CD ships the model</a:t>
                      </a:r>
                      <a:endParaRPr lang="en-US" sz="1500" dirty="0">
                        <a:latin typeface="DM Sans" charset="0"/>
                        <a:ea typeface="DM Sans" charset="0"/>
                        <a:cs typeface="DM Sans" charset="0"/>
                      </a:endParaRPr>
                    </a:p>
                  </a:txBody>
                  <a:tcPr marL="177800" marR="177800" marT="127000" marB="12700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5C4BF"/>
                      </a:solidFill>
                      <a:prstDash val="solid"/>
                      <a:round/>
                      <a:headEnd type="none" w="med" len="med"/>
                      <a:tailEnd type="none" w="med" len="med"/>
                    </a:lnB>
                    <a:solidFill>
                      <a:srgbClr val="F7F5EF"/>
                    </a:solidFill>
                  </a:tcPr>
                </a:tc>
                <a:tc>
                  <a:txBody>
                    <a:bodyPr/>
                    <a:lstStyle/>
                    <a:p>
                      <a:pPr indent="0" marL="0">
                        <a:lnSpc>
                          <a:spcPts val="2100"/>
                        </a:lnSpc>
                        <a:buNone/>
                      </a:pPr>
                      <a:r>
                        <a:rPr lang="en-US" sz="1500" dirty="0">
                          <a:solidFill>
                            <a:srgbClr val="1D1B18"/>
                          </a:solidFill>
                          <a:latin typeface="DM Sans" pitchFamily="34" charset="0"/>
                          <a:ea typeface="DM Sans" pitchFamily="34" charset="-122"/>
                          <a:cs typeface="DM Sans" pitchFamily="34" charset="-120"/>
                        </a:rPr>
                        <a:t>Serverless API</a:t>
                      </a:r>
                      <a:endParaRPr lang="en-US" sz="1500" dirty="0">
                        <a:latin typeface="DM Sans" charset="0"/>
                        <a:ea typeface="DM Sans" charset="0"/>
                        <a:cs typeface="DM Sans" charset="0"/>
                      </a:endParaRPr>
                    </a:p>
                  </a:txBody>
                  <a:tcPr marL="177800" marR="177800" marT="127000" marB="12700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5C4BF"/>
                      </a:solidFill>
                      <a:prstDash val="solid"/>
                      <a:round/>
                      <a:headEnd type="none" w="med" len="med"/>
                      <a:tailEnd type="none" w="med" len="med"/>
                    </a:lnB>
                    <a:solidFill>
                      <a:srgbClr val="F7F5EF"/>
                    </a:solidFill>
                  </a:tcPr>
                </a:tc>
              </a:tr>
              <a:tr h="532763">
                <a:tc>
                  <a:txBody>
                    <a:bodyPr/>
                    <a:lstStyle/>
                    <a:p>
                      <a:pPr indent="0" marL="0">
                        <a:lnSpc>
                          <a:spcPts val="2100"/>
                        </a:lnSpc>
                        <a:buNone/>
                      </a:pPr>
                      <a:r>
                        <a:rPr lang="en-US" sz="1500" dirty="0">
                          <a:solidFill>
                            <a:srgbClr val="1D1B18"/>
                          </a:solidFill>
                          <a:latin typeface="DM Sans" pitchFamily="34" charset="0"/>
                          <a:ea typeface="DM Sans" pitchFamily="34" charset="-122"/>
                          <a:cs typeface="DM Sans" pitchFamily="34" charset="-120"/>
                        </a:rPr>
                        <a:t>4 · Full MLOps</a:t>
                      </a:r>
                      <a:endParaRPr lang="en-US" sz="1500" dirty="0">
                        <a:latin typeface="DM Sans" charset="0"/>
                        <a:ea typeface="DM Sans" charset="0"/>
                        <a:cs typeface="DM Sans" charset="0"/>
                      </a:endParaRPr>
                    </a:p>
                  </a:txBody>
                  <a:tcPr marL="177800" marR="177800" marT="127000" marB="127000" anchor="t">
                    <a:lnL w="0" cap="flat" cmpd="sng" algn="ctr">
                      <a:noFill/>
                    </a:lnL>
                    <a:lnR w="12700" cap="flat" cmpd="sng" algn="ctr">
                      <a:solidFill>
                        <a:srgbClr val="CBCAC6"/>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100"/>
                        </a:lnSpc>
                        <a:buNone/>
                      </a:pPr>
                      <a:r>
                        <a:rPr lang="en-US" sz="1500" dirty="0">
                          <a:solidFill>
                            <a:srgbClr val="1D1B18"/>
                          </a:solidFill>
                          <a:latin typeface="DM Sans" pitchFamily="34" charset="0"/>
                          <a:ea typeface="DM Sans" pitchFamily="34" charset="-122"/>
                          <a:cs typeface="DM Sans" pitchFamily="34" charset="-120"/>
                        </a:rPr>
                        <a:t>Monitoring and auto-retraining</a:t>
                      </a:r>
                      <a:endParaRPr lang="en-US" sz="1500" dirty="0">
                        <a:latin typeface="DM Sans" charset="0"/>
                        <a:ea typeface="DM Sans" charset="0"/>
                        <a:cs typeface="DM Sans" charset="0"/>
                      </a:endParaRPr>
                    </a:p>
                  </a:txBody>
                  <a:tcPr marL="177800" marR="177800" marT="127000" marB="1270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2100"/>
                        </a:lnSpc>
                        <a:buNone/>
                      </a:pPr>
                      <a:r>
                        <a:rPr lang="en-US" sz="1500" dirty="0">
                          <a:solidFill>
                            <a:srgbClr val="1D1B18"/>
                          </a:solidFill>
                          <a:latin typeface="DM Sans" pitchFamily="34" charset="0"/>
                          <a:ea typeface="DM Sans" pitchFamily="34" charset="-122"/>
                          <a:cs typeface="DM Sans" pitchFamily="34" charset="-120"/>
                        </a:rPr>
                        <a:t>This week’s notebooks</a:t>
                      </a:r>
                      <a:endParaRPr lang="en-US" sz="1500" dirty="0">
                        <a:latin typeface="DM Sans" charset="0"/>
                        <a:ea typeface="DM Sans" charset="0"/>
                        <a:cs typeface="DM Sans" charset="0"/>
                      </a:endParaRPr>
                    </a:p>
                  </a:txBody>
                  <a:tcPr marL="177800" marR="177800" marT="127000" marB="12700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bl>
          </a:graphicData>
        </a:graphic>
      </p:graphicFrame>
      <p:sp>
        <p:nvSpPr>
          <p:cNvPr id="7" name="Text 4"/>
          <p:cNvSpPr/>
          <p:nvPr/>
        </p:nvSpPr>
        <p:spPr>
          <a:xfrm>
            <a:off x="812788" y="6238280"/>
            <a:ext cx="6540485"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65C"/>
                </a:solidFill>
                <a:latin typeface="DM Sans" pitchFamily="34" charset="0"/>
                <a:ea typeface="DM Sans" pitchFamily="34" charset="-122"/>
                <a:cs typeface="DM Sans" pitchFamily="34" charset="-120"/>
              </a:rPr>
              <a:t>5350 Applied Deep Learning · MLOps</a:t>
            </a:r>
            <a:endParaRPr lang="en-US" sz="1200" dirty="0"/>
          </a:p>
        </p:txBody>
      </p:sp>
      <p:sp>
        <p:nvSpPr>
          <p:cNvPr id="8" name="Text 5"/>
          <p:cNvSpPr/>
          <p:nvPr/>
        </p:nvSpPr>
        <p:spPr>
          <a:xfrm>
            <a:off x="10058381" y="6238280"/>
            <a:ext cx="1320797"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65C"/>
                </a:solidFill>
                <a:latin typeface="DM Sans" pitchFamily="34" charset="0"/>
                <a:ea typeface="DM Sans" pitchFamily="34" charset="-122"/>
                <a:cs typeface="DM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A5C12"/>
                </a:solidFill>
                <a:latin typeface="DM Sans" pitchFamily="34" charset="0"/>
                <a:ea typeface="DM Sans" pitchFamily="34" charset="-122"/>
                <a:cs typeface="DM Sans" pitchFamily="34" charset="-120"/>
              </a:rPr>
              <a:t>PACKAGING</a:t>
            </a:r>
            <a:endParaRPr lang="en-US" sz="1200" dirty="0"/>
          </a:p>
        </p:txBody>
      </p:sp>
      <p:sp>
        <p:nvSpPr>
          <p:cNvPr id="3" name="Text 1"/>
          <p:cNvSpPr/>
          <p:nvPr>
            <p:ph type="title"/>
          </p:nvPr>
        </p:nvSpPr>
        <p:spPr>
          <a:xfrm>
            <a:off x="812788" y="1127720"/>
            <a:ext cx="10883382" cy="528312"/>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1B18"/>
                </a:solidFill>
                <a:latin typeface="DM Sans" pitchFamily="34" charset="0"/>
                <a:ea typeface="DM Sans" pitchFamily="34" charset="-122"/>
                <a:cs typeface="DM Sans" pitchFamily="34" charset="-120"/>
              </a:rPr>
              <a:t>Docker ends “it works on my machine”</a:t>
            </a:r>
            <a:endParaRPr lang="en-US" sz="3600" dirty="0"/>
          </a:p>
        </p:txBody>
      </p:sp>
      <p:sp>
        <p:nvSpPr>
          <p:cNvPr id="4" name="Text 2"/>
          <p:cNvSpPr/>
          <p:nvPr/>
        </p:nvSpPr>
        <p:spPr>
          <a:xfrm>
            <a:off x="812788" y="1935411"/>
            <a:ext cx="5467871" cy="5942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63E"/>
                </a:solidFill>
                <a:latin typeface="DM Sans" pitchFamily="34" charset="0"/>
                <a:ea typeface="DM Sans" pitchFamily="34" charset="-122"/>
                <a:cs typeface="DM Sans" pitchFamily="34" charset="-120"/>
              </a:rPr>
              <a:t>A container bundles everything the model needs, so it runs the same on a laptop, a VM or the cloud.</a:t>
            </a:r>
            <a:endParaRPr lang="en-US" sz="1600" dirty="0"/>
          </a:p>
        </p:txBody>
      </p:sp>
      <p:sp>
        <p:nvSpPr>
          <p:cNvPr id="5" name="Text 3"/>
          <p:cNvSpPr/>
          <p:nvPr/>
        </p:nvSpPr>
        <p:spPr>
          <a:xfrm>
            <a:off x="812788" y="2656681"/>
            <a:ext cx="5467871"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A5C12"/>
                </a:solidFill>
                <a:latin typeface="DM Sans" pitchFamily="34" charset="0"/>
                <a:ea typeface="DM Sans" pitchFamily="34" charset="-122"/>
                <a:cs typeface="DM Sans" pitchFamily="34" charset="-120"/>
              </a:rPr>
              <a:t>Inside our container</a:t>
            </a:r>
            <a:endParaRPr lang="en-US" sz="1600" dirty="0"/>
          </a:p>
        </p:txBody>
      </p:sp>
      <p:sp>
        <p:nvSpPr>
          <p:cNvPr id="6" name="Text 4"/>
          <p:cNvSpPr/>
          <p:nvPr/>
        </p:nvSpPr>
        <p:spPr>
          <a:xfrm>
            <a:off x="876796" y="3052868"/>
            <a:ext cx="5396243" cy="1244525"/>
          </a:xfrm>
          <a:prstGeom prst="rect">
            <a:avLst/>
          </a:prstGeom>
          <a:noFill/>
          <a:ln/>
        </p:spPr>
        <p:txBody>
          <a:bodyPr wrap="square" lIns="0" tIns="0" rIns="0" bIns="0" rtlCol="0" anchor="t">
            <a:normAutofit/>
          </a:bodyPr>
          <a:lstStyle/>
          <a:p>
            <a:pPr algn="l" marL="189992" indent="-189992">
              <a:lnSpc>
                <a:spcPts val="2400"/>
              </a:lnSpc>
              <a:buSzPct val="100000"/>
              <a:buChar char="•"/>
            </a:pPr>
            <a:r>
              <a:rPr lang="en-US" sz="1600" dirty="0">
                <a:solidFill>
                  <a:srgbClr val="4A463E"/>
                </a:solidFill>
                <a:latin typeface="DM Sans" pitchFamily="34" charset="0"/>
                <a:ea typeface="DM Sans" pitchFamily="34" charset="-122"/>
                <a:cs typeface="DM Sans" pitchFamily="34" charset="-120"/>
              </a:rPr>
              <a:t>The Streamlit web app</a:t>
            </a:r>
            <a:endParaRPr lang="en-US" sz="1600" dirty="0"/>
          </a:p>
          <a:p>
            <a:pPr algn="l" marL="189992" indent="-189992">
              <a:lnSpc>
                <a:spcPts val="2400"/>
              </a:lnSpc>
              <a:buSzPct val="100000"/>
              <a:buChar char="•"/>
            </a:pPr>
            <a:r>
              <a:rPr lang="en-US" sz="1600" dirty="0">
                <a:solidFill>
                  <a:srgbClr val="4A463E"/>
                </a:solidFill>
                <a:latin typeface="DM Sans" pitchFamily="34" charset="0"/>
                <a:ea typeface="DM Sans" pitchFamily="34" charset="-122"/>
                <a:cs typeface="DM Sans" pitchFamily="34" charset="-120"/>
              </a:rPr>
              <a:t>The trained model file (.pkl)</a:t>
            </a:r>
            <a:endParaRPr lang="en-US" sz="1600" dirty="0"/>
          </a:p>
          <a:p>
            <a:pPr algn="l" marL="189992" indent="-189992">
              <a:lnSpc>
                <a:spcPts val="2400"/>
              </a:lnSpc>
              <a:buSzPct val="100000"/>
              <a:buChar char="•"/>
            </a:pPr>
            <a:r>
              <a:rPr lang="en-US" sz="1600" dirty="0">
                <a:solidFill>
                  <a:srgbClr val="4A463E"/>
                </a:solidFill>
                <a:latin typeface="DM Sans" pitchFamily="34" charset="0"/>
                <a:ea typeface="DM Sans" pitchFamily="34" charset="-122"/>
                <a:cs typeface="DM Sans" pitchFamily="34" charset="-120"/>
              </a:rPr>
              <a:t>The feature-extraction code</a:t>
            </a:r>
            <a:endParaRPr lang="en-US" sz="1600" dirty="0"/>
          </a:p>
          <a:p>
            <a:pPr algn="l" marL="189992" indent="-189992">
              <a:lnSpc>
                <a:spcPts val="2400"/>
              </a:lnSpc>
              <a:buSzPct val="100000"/>
              <a:buChar char="•"/>
            </a:pPr>
            <a:r>
              <a:rPr lang="en-US" sz="1600" dirty="0">
                <a:solidFill>
                  <a:srgbClr val="4A463E"/>
                </a:solidFill>
                <a:latin typeface="DM Sans" pitchFamily="34" charset="0"/>
                <a:ea typeface="DM Sans" pitchFamily="34" charset="-122"/>
                <a:cs typeface="DM Sans" pitchFamily="34" charset="-120"/>
              </a:rPr>
              <a:t>Python and pinned requirements</a:t>
            </a:r>
            <a:endParaRPr lang="en-US" sz="1600" dirty="0"/>
          </a:p>
        </p:txBody>
      </p:sp>
      <p:sp>
        <p:nvSpPr>
          <p:cNvPr id="7" name="Shape 5"/>
          <p:cNvSpPr/>
          <p:nvPr/>
        </p:nvSpPr>
        <p:spPr>
          <a:xfrm>
            <a:off x="6426181" y="1935411"/>
            <a:ext cx="4952997" cy="2336580"/>
          </a:xfrm>
          <a:prstGeom prst="roundRect">
            <a:avLst>
              <a:gd name="adj" fmla="val 5435"/>
            </a:avLst>
          </a:prstGeom>
          <a:solidFill>
            <a:srgbClr val="1D1B18"/>
          </a:solidFill>
          <a:ln/>
        </p:spPr>
      </p:sp>
      <p:sp>
        <p:nvSpPr>
          <p:cNvPr id="8" name="Text 6"/>
          <p:cNvSpPr/>
          <p:nvPr/>
        </p:nvSpPr>
        <p:spPr>
          <a:xfrm>
            <a:off x="6730962" y="2240192"/>
            <a:ext cx="4473737" cy="238739"/>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FB87C"/>
                </a:solidFill>
                <a:latin typeface="DM Sans" pitchFamily="34" charset="0"/>
                <a:ea typeface="DM Sans" pitchFamily="34" charset="-122"/>
                <a:cs typeface="DM Sans" pitchFamily="34" charset="-120"/>
              </a:rPr>
              <a:t>TWO COMMANDS</a:t>
            </a:r>
            <a:endParaRPr lang="en-US" sz="1200" dirty="0"/>
          </a:p>
        </p:txBody>
      </p:sp>
      <p:sp>
        <p:nvSpPr>
          <p:cNvPr id="9" name="Text 7"/>
          <p:cNvSpPr/>
          <p:nvPr/>
        </p:nvSpPr>
        <p:spPr>
          <a:xfrm>
            <a:off x="6730962" y="2580525"/>
            <a:ext cx="4473737" cy="292065"/>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7F5EF"/>
                </a:solidFill>
                <a:latin typeface="JetBrains Mono" pitchFamily="49" charset="0"/>
                <a:ea typeface="JetBrains Mono" pitchFamily="49" charset="-122"/>
                <a:cs typeface="JetBrains Mono" pitchFamily="49" charset="-120"/>
              </a:rPr>
              <a:t>docker build -t spam-classifier .</a:t>
            </a:r>
            <a:endParaRPr lang="en-US" sz="1400" dirty="0"/>
          </a:p>
        </p:txBody>
      </p:sp>
      <p:sp>
        <p:nvSpPr>
          <p:cNvPr id="10" name="Text 8"/>
          <p:cNvSpPr/>
          <p:nvPr/>
        </p:nvSpPr>
        <p:spPr>
          <a:xfrm>
            <a:off x="6730962" y="2974181"/>
            <a:ext cx="4473737" cy="292065"/>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7F5EF"/>
                </a:solidFill>
                <a:latin typeface="JetBrains Mono" pitchFamily="49" charset="0"/>
                <a:ea typeface="JetBrains Mono" pitchFamily="49" charset="-122"/>
                <a:cs typeface="JetBrains Mono" pitchFamily="49" charset="-120"/>
              </a:rPr>
              <a:t>docker run -p 8501:8501 spam-classifier</a:t>
            </a:r>
            <a:endParaRPr lang="en-US" sz="1400" dirty="0"/>
          </a:p>
        </p:txBody>
      </p:sp>
      <p:sp>
        <p:nvSpPr>
          <p:cNvPr id="11" name="Text 9"/>
          <p:cNvSpPr/>
          <p:nvPr/>
        </p:nvSpPr>
        <p:spPr>
          <a:xfrm>
            <a:off x="6730962" y="3367838"/>
            <a:ext cx="4648216"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8B8"/>
                </a:solidFill>
                <a:latin typeface="DM Sans" pitchFamily="34" charset="0"/>
                <a:ea typeface="DM Sans" pitchFamily="34" charset="-122"/>
                <a:cs typeface="DM Sans" pitchFamily="34" charset="-120"/>
              </a:rPr>
              <a:t>Then open localhost:8501, paste a message and click Classify.</a:t>
            </a:r>
            <a:endParaRPr lang="en-US" sz="1200" dirty="0"/>
          </a:p>
        </p:txBody>
      </p:sp>
      <p:sp>
        <p:nvSpPr>
          <p:cNvPr id="12" name="Text 10"/>
          <p:cNvSpPr/>
          <p:nvPr/>
        </p:nvSpPr>
        <p:spPr>
          <a:xfrm>
            <a:off x="812788" y="6238280"/>
            <a:ext cx="6540485"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65C"/>
                </a:solidFill>
                <a:latin typeface="DM Sans" pitchFamily="34" charset="0"/>
                <a:ea typeface="DM Sans" pitchFamily="34" charset="-122"/>
                <a:cs typeface="DM Sans" pitchFamily="34" charset="-120"/>
              </a:rPr>
              <a:t>5350 Applied Deep Learning · MLOps</a:t>
            </a:r>
            <a:endParaRPr lang="en-US" sz="1200" dirty="0"/>
          </a:p>
        </p:txBody>
      </p:sp>
      <p:sp>
        <p:nvSpPr>
          <p:cNvPr id="13" name="Text 11"/>
          <p:cNvSpPr/>
          <p:nvPr/>
        </p:nvSpPr>
        <p:spPr>
          <a:xfrm>
            <a:off x="10058381" y="6238280"/>
            <a:ext cx="1320797"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65C"/>
                </a:solidFill>
                <a:latin typeface="DM Sans" pitchFamily="34" charset="0"/>
                <a:ea typeface="DM Sans" pitchFamily="34" charset="-122"/>
                <a:cs typeface="DM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A5C12"/>
                </a:solidFill>
                <a:latin typeface="DM Sans" pitchFamily="34" charset="0"/>
                <a:ea typeface="DM Sans" pitchFamily="34" charset="-122"/>
                <a:cs typeface="DM Sans" pitchFamily="34" charset="-120"/>
              </a:rPr>
              <a:t>SERVING</a:t>
            </a:r>
            <a:endParaRPr lang="en-US" sz="1200" dirty="0"/>
          </a:p>
        </p:txBody>
      </p:sp>
      <p:sp>
        <p:nvSpPr>
          <p:cNvPr id="3" name="Text 1"/>
          <p:cNvSpPr/>
          <p:nvPr>
            <p:ph type="title"/>
          </p:nvPr>
        </p:nvSpPr>
        <p:spPr>
          <a:xfrm>
            <a:off x="812788" y="1127720"/>
            <a:ext cx="10883382" cy="528312"/>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1B18"/>
                </a:solidFill>
                <a:latin typeface="DM Sans" pitchFamily="34" charset="0"/>
                <a:ea typeface="DM Sans" pitchFamily="34" charset="-122"/>
                <a:cs typeface="DM Sans" pitchFamily="34" charset="-120"/>
              </a:rPr>
              <a:t>Three ways to put the model online</a:t>
            </a:r>
            <a:endParaRPr lang="en-US" sz="3600" dirty="0"/>
          </a:p>
        </p:txBody>
      </p:sp>
      <p:sp>
        <p:nvSpPr>
          <p:cNvPr id="4" name="Shape 2"/>
          <p:cNvSpPr/>
          <p:nvPr/>
        </p:nvSpPr>
        <p:spPr>
          <a:xfrm>
            <a:off x="819138" y="1941761"/>
            <a:ext cx="3373972" cy="2581676"/>
          </a:xfrm>
          <a:prstGeom prst="roundRect">
            <a:avLst>
              <a:gd name="adj" fmla="val 4673"/>
            </a:avLst>
          </a:prstGeom>
          <a:solidFill>
            <a:srgbClr val="FFFDF8"/>
          </a:solidFill>
          <a:ln w="12700">
            <a:solidFill>
              <a:srgbClr val="E2DCCB"/>
            </a:solidFill>
            <a:prstDash val="solid"/>
          </a:ln>
        </p:spPr>
      </p:sp>
      <p:pic>
        <p:nvPicPr>
          <p:cNvPr id="5" name="Image 0" descr="Settings">    </p:cNvPr>
          <p:cNvPicPr>
            <a:picLocks noChangeAspect="1"/>
          </p:cNvPicPr>
          <p:nvPr/>
        </p:nvPicPr>
        <p:blipFill>
          <a:blip r:embed="rId1"/>
          <a:srcRect l="0" r="0" t="0" b="0"/>
          <a:stretch/>
        </p:blipFill>
        <p:spPr>
          <a:xfrm>
            <a:off x="1078848" y="2201472"/>
            <a:ext cx="355578" cy="355578"/>
          </a:xfrm>
          <a:prstGeom prst="rect">
            <a:avLst/>
          </a:prstGeom>
        </p:spPr>
      </p:pic>
      <p:sp>
        <p:nvSpPr>
          <p:cNvPr id="6" name="Text 3"/>
          <p:cNvSpPr/>
          <p:nvPr/>
        </p:nvSpPr>
        <p:spPr>
          <a:xfrm>
            <a:off x="1078848" y="2658641"/>
            <a:ext cx="2940186" cy="36063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D1B18"/>
                </a:solidFill>
                <a:latin typeface="DM Sans" pitchFamily="34" charset="0"/>
                <a:ea typeface="DM Sans" pitchFamily="34" charset="-122"/>
                <a:cs typeface="DM Sans" pitchFamily="34" charset="-120"/>
              </a:rPr>
              <a:t>Virtual machine</a:t>
            </a:r>
            <a:endParaRPr lang="en-US" sz="2200" dirty="0"/>
          </a:p>
        </p:txBody>
      </p:sp>
      <p:sp>
        <p:nvSpPr>
          <p:cNvPr id="7" name="Text 4"/>
          <p:cNvSpPr/>
          <p:nvPr/>
        </p:nvSpPr>
        <p:spPr>
          <a:xfrm>
            <a:off x="1078848" y="3095476"/>
            <a:ext cx="2940186" cy="5942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63E"/>
                </a:solidFill>
                <a:latin typeface="DM Sans" pitchFamily="34" charset="0"/>
                <a:ea typeface="DM Sans" pitchFamily="34" charset="-122"/>
                <a:cs typeface="DM Sans" pitchFamily="34" charset="-120"/>
              </a:rPr>
              <a:t>Rent a server and run the app on it. You manage everything.</a:t>
            </a:r>
            <a:endParaRPr lang="en-US" sz="1600" dirty="0"/>
          </a:p>
        </p:txBody>
      </p:sp>
      <p:sp>
        <p:nvSpPr>
          <p:cNvPr id="8" name="Text 5"/>
          <p:cNvSpPr/>
          <p:nvPr/>
        </p:nvSpPr>
        <p:spPr>
          <a:xfrm>
            <a:off x="1078848" y="3765947"/>
            <a:ext cx="3107911"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1B18"/>
                </a:solidFill>
                <a:latin typeface="DM Sans" pitchFamily="34" charset="0"/>
                <a:ea typeface="DM Sans" pitchFamily="34" charset="-122"/>
                <a:cs typeface="DM Sans" pitchFamily="34" charset="-120"/>
              </a:rPr>
              <a:t>Good for:</a:t>
            </a:r>
            <a:r>
              <a:rPr lang="en-US" sz="1200" dirty="0">
                <a:solidFill>
                  <a:srgbClr val="6B665C"/>
                </a:solidFill>
                <a:latin typeface="DM Sans" pitchFamily="34" charset="0"/>
                <a:ea typeface="DM Sans" pitchFamily="34" charset="-122"/>
                <a:cs typeface="DM Sans" pitchFamily="34" charset="-120"/>
              </a:rPr>
              <a:t> first deployments, full control</a:t>
            </a:r>
            <a:endParaRPr lang="en-US" sz="1200" dirty="0"/>
          </a:p>
        </p:txBody>
      </p:sp>
      <p:sp>
        <p:nvSpPr>
          <p:cNvPr id="9" name="Shape 6"/>
          <p:cNvSpPr/>
          <p:nvPr/>
        </p:nvSpPr>
        <p:spPr>
          <a:xfrm>
            <a:off x="4408997" y="1941761"/>
            <a:ext cx="3373972" cy="2581676"/>
          </a:xfrm>
          <a:prstGeom prst="roundRect">
            <a:avLst>
              <a:gd name="adj" fmla="val 4673"/>
            </a:avLst>
          </a:prstGeom>
          <a:solidFill>
            <a:srgbClr val="FFFDF8"/>
          </a:solidFill>
          <a:ln w="12700">
            <a:solidFill>
              <a:srgbClr val="E2DCCB"/>
            </a:solidFill>
            <a:prstDash val="solid"/>
          </a:ln>
        </p:spPr>
      </p:sp>
      <p:pic>
        <p:nvPicPr>
          <p:cNvPr id="10" name="Image 1" descr="Database">    </p:cNvPr>
          <p:cNvPicPr>
            <a:picLocks noChangeAspect="1"/>
          </p:cNvPicPr>
          <p:nvPr/>
        </p:nvPicPr>
        <p:blipFill>
          <a:blip r:embed="rId2"/>
          <a:srcRect l="0" r="0" t="0" b="0"/>
          <a:stretch/>
        </p:blipFill>
        <p:spPr>
          <a:xfrm>
            <a:off x="4668708" y="2201472"/>
            <a:ext cx="355578" cy="355578"/>
          </a:xfrm>
          <a:prstGeom prst="rect">
            <a:avLst/>
          </a:prstGeom>
        </p:spPr>
      </p:pic>
      <p:sp>
        <p:nvSpPr>
          <p:cNvPr id="11" name="Text 7"/>
          <p:cNvSpPr/>
          <p:nvPr/>
        </p:nvSpPr>
        <p:spPr>
          <a:xfrm>
            <a:off x="4668708" y="2658641"/>
            <a:ext cx="2940186" cy="36063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D1B18"/>
                </a:solidFill>
                <a:latin typeface="DM Sans" pitchFamily="34" charset="0"/>
                <a:ea typeface="DM Sans" pitchFamily="34" charset="-122"/>
                <a:cs typeface="DM Sans" pitchFamily="34" charset="-120"/>
              </a:rPr>
              <a:t>Containers</a:t>
            </a:r>
            <a:endParaRPr lang="en-US" sz="2200" dirty="0"/>
          </a:p>
        </p:txBody>
      </p:sp>
      <p:sp>
        <p:nvSpPr>
          <p:cNvPr id="12" name="Text 8"/>
          <p:cNvSpPr/>
          <p:nvPr/>
        </p:nvSpPr>
        <p:spPr>
          <a:xfrm>
            <a:off x="4668708" y="3095476"/>
            <a:ext cx="2940186" cy="5942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63E"/>
                </a:solidFill>
                <a:latin typeface="DM Sans" pitchFamily="34" charset="0"/>
                <a:ea typeface="DM Sans" pitchFamily="34" charset="-122"/>
                <a:cs typeface="DM Sans" pitchFamily="34" charset="-120"/>
              </a:rPr>
              <a:t>Docker image, optionally run by Kubernetes for scaling.</a:t>
            </a:r>
            <a:endParaRPr lang="en-US" sz="1600" dirty="0"/>
          </a:p>
        </p:txBody>
      </p:sp>
      <p:sp>
        <p:nvSpPr>
          <p:cNvPr id="13" name="Text 9"/>
          <p:cNvSpPr/>
          <p:nvPr/>
        </p:nvSpPr>
        <p:spPr>
          <a:xfrm>
            <a:off x="4668708" y="3765947"/>
            <a:ext cx="2940186"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1B18"/>
                </a:solidFill>
                <a:latin typeface="DM Sans" pitchFamily="34" charset="0"/>
                <a:ea typeface="DM Sans" pitchFamily="34" charset="-122"/>
                <a:cs typeface="DM Sans" pitchFamily="34" charset="-120"/>
              </a:rPr>
              <a:t>Good for:</a:t>
            </a:r>
            <a:r>
              <a:rPr lang="en-US" sz="1200" dirty="0">
                <a:solidFill>
                  <a:srgbClr val="6B665C"/>
                </a:solidFill>
                <a:latin typeface="DM Sans" pitchFamily="34" charset="0"/>
                <a:ea typeface="DM Sans" pitchFamily="34" charset="-122"/>
                <a:cs typeface="DM Sans" pitchFamily="34" charset="-120"/>
              </a:rPr>
              <a:t> portable apps, steady traffic</a:t>
            </a:r>
            <a:endParaRPr lang="en-US" sz="1200" dirty="0"/>
          </a:p>
        </p:txBody>
      </p:sp>
      <p:sp>
        <p:nvSpPr>
          <p:cNvPr id="14" name="Shape 10"/>
          <p:cNvSpPr/>
          <p:nvPr/>
        </p:nvSpPr>
        <p:spPr>
          <a:xfrm>
            <a:off x="7998856" y="1941761"/>
            <a:ext cx="3373972" cy="2581676"/>
          </a:xfrm>
          <a:prstGeom prst="roundRect">
            <a:avLst>
              <a:gd name="adj" fmla="val 4673"/>
            </a:avLst>
          </a:prstGeom>
          <a:solidFill>
            <a:srgbClr val="FFFDF8"/>
          </a:solidFill>
          <a:ln w="12700">
            <a:solidFill>
              <a:srgbClr val="CFB87C"/>
            </a:solidFill>
            <a:prstDash val="solid"/>
          </a:ln>
        </p:spPr>
      </p:sp>
      <p:pic>
        <p:nvPicPr>
          <p:cNvPr id="15" name="Image 2" descr="Cloud">    </p:cNvPr>
          <p:cNvPicPr>
            <a:picLocks noChangeAspect="1"/>
          </p:cNvPicPr>
          <p:nvPr/>
        </p:nvPicPr>
        <p:blipFill>
          <a:blip r:embed="rId3"/>
          <a:srcRect l="0" r="0" t="0" b="0"/>
          <a:stretch/>
        </p:blipFill>
        <p:spPr>
          <a:xfrm>
            <a:off x="8258566" y="2201472"/>
            <a:ext cx="355578" cy="355578"/>
          </a:xfrm>
          <a:prstGeom prst="rect">
            <a:avLst/>
          </a:prstGeom>
        </p:spPr>
      </p:pic>
      <p:sp>
        <p:nvSpPr>
          <p:cNvPr id="16" name="Text 11"/>
          <p:cNvSpPr/>
          <p:nvPr/>
        </p:nvSpPr>
        <p:spPr>
          <a:xfrm>
            <a:off x="8258566" y="2658641"/>
            <a:ext cx="2940186" cy="36063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D1B18"/>
                </a:solidFill>
                <a:latin typeface="DM Sans" pitchFamily="34" charset="0"/>
                <a:ea typeface="DM Sans" pitchFamily="34" charset="-122"/>
                <a:cs typeface="DM Sans" pitchFamily="34" charset="-120"/>
              </a:rPr>
              <a:t>Serverless API</a:t>
            </a:r>
            <a:endParaRPr lang="en-US" sz="2200" dirty="0"/>
          </a:p>
        </p:txBody>
      </p:sp>
      <p:sp>
        <p:nvSpPr>
          <p:cNvPr id="17" name="Text 12"/>
          <p:cNvSpPr/>
          <p:nvPr/>
        </p:nvSpPr>
        <p:spPr>
          <a:xfrm>
            <a:off x="8258566" y="3095476"/>
            <a:ext cx="2940186" cy="878719"/>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63E"/>
                </a:solidFill>
                <a:latin typeface="DM Sans" pitchFamily="34" charset="0"/>
                <a:ea typeface="DM Sans" pitchFamily="34" charset="-122"/>
                <a:cs typeface="DM Sans" pitchFamily="34" charset="-120"/>
              </a:rPr>
              <a:t>IBM Code Engine or Azure Functions run your code per request.</a:t>
            </a:r>
            <a:endParaRPr lang="en-US" sz="1600" dirty="0"/>
          </a:p>
        </p:txBody>
      </p:sp>
      <p:sp>
        <p:nvSpPr>
          <p:cNvPr id="18" name="Text 13"/>
          <p:cNvSpPr/>
          <p:nvPr/>
        </p:nvSpPr>
        <p:spPr>
          <a:xfrm>
            <a:off x="8258566" y="4050388"/>
            <a:ext cx="2940186"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1B18"/>
                </a:solidFill>
                <a:latin typeface="DM Sans" pitchFamily="34" charset="0"/>
                <a:ea typeface="DM Sans" pitchFamily="34" charset="-122"/>
                <a:cs typeface="DM Sans" pitchFamily="34" charset="-120"/>
              </a:rPr>
              <a:t>Good for:</a:t>
            </a:r>
            <a:r>
              <a:rPr lang="en-US" sz="1200" dirty="0">
                <a:solidFill>
                  <a:srgbClr val="6B665C"/>
                </a:solidFill>
                <a:latin typeface="DM Sans" pitchFamily="34" charset="0"/>
                <a:ea typeface="DM Sans" pitchFamily="34" charset="-122"/>
                <a:cs typeface="DM Sans" pitchFamily="34" charset="-120"/>
              </a:rPr>
              <a:t> spiky traffic, pay per use</a:t>
            </a:r>
            <a:endParaRPr lang="en-US" sz="1200" dirty="0"/>
          </a:p>
        </p:txBody>
      </p:sp>
      <p:sp>
        <p:nvSpPr>
          <p:cNvPr id="19" name="Text 14"/>
          <p:cNvSpPr/>
          <p:nvPr/>
        </p:nvSpPr>
        <p:spPr>
          <a:xfrm>
            <a:off x="812788" y="4834570"/>
            <a:ext cx="1088338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63E"/>
                </a:solidFill>
                <a:latin typeface="JetBrains Mono" pitchFamily="49" charset="0"/>
                <a:ea typeface="JetBrains Mono" pitchFamily="49" charset="-122"/>
                <a:cs typeface="JetBrains Mono" pitchFamily="49" charset="-120"/>
              </a:rPr>
              <a:t>POST /api/classify {"message": "..."} → {"prediction": "spam"}</a:t>
            </a:r>
            <a:endParaRPr lang="en-US" sz="1400" dirty="0"/>
          </a:p>
        </p:txBody>
      </p:sp>
      <p:sp>
        <p:nvSpPr>
          <p:cNvPr id="20" name="Text 15"/>
          <p:cNvSpPr/>
          <p:nvPr/>
        </p:nvSpPr>
        <p:spPr>
          <a:xfrm>
            <a:off x="812788" y="6238273"/>
            <a:ext cx="6540485"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65C"/>
                </a:solidFill>
                <a:latin typeface="DM Sans" pitchFamily="34" charset="0"/>
                <a:ea typeface="DM Sans" pitchFamily="34" charset="-122"/>
                <a:cs typeface="DM Sans" pitchFamily="34" charset="-120"/>
              </a:rPr>
              <a:t>5350 Applied Deep Learning · MLOps</a:t>
            </a:r>
            <a:endParaRPr lang="en-US" sz="1200" dirty="0"/>
          </a:p>
        </p:txBody>
      </p:sp>
      <p:sp>
        <p:nvSpPr>
          <p:cNvPr id="21" name="Text 16"/>
          <p:cNvSpPr/>
          <p:nvPr/>
        </p:nvSpPr>
        <p:spPr>
          <a:xfrm>
            <a:off x="10058381" y="6238273"/>
            <a:ext cx="1320797"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65C"/>
                </a:solidFill>
                <a:latin typeface="DM Sans" pitchFamily="34" charset="0"/>
                <a:ea typeface="DM Sans" pitchFamily="34" charset="-122"/>
                <a:cs typeface="DM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FEBE0"/>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A5C12"/>
                </a:solidFill>
                <a:latin typeface="DM Sans" pitchFamily="34" charset="0"/>
                <a:ea typeface="DM Sans" pitchFamily="34" charset="-122"/>
                <a:cs typeface="DM Sans" pitchFamily="34" charset="-120"/>
              </a:rPr>
              <a:t>AUTOMATION</a:t>
            </a:r>
            <a:endParaRPr lang="en-US" sz="1200" dirty="0"/>
          </a:p>
        </p:txBody>
      </p:sp>
      <p:sp>
        <p:nvSpPr>
          <p:cNvPr id="3" name="Text 1"/>
          <p:cNvSpPr/>
          <p:nvPr>
            <p:ph type="title"/>
          </p:nvPr>
        </p:nvSpPr>
        <p:spPr>
          <a:xfrm>
            <a:off x="812788" y="1127720"/>
            <a:ext cx="10883382" cy="528312"/>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1B18"/>
                </a:solidFill>
                <a:latin typeface="DM Sans" pitchFamily="34" charset="0"/>
                <a:ea typeface="DM Sans" pitchFamily="34" charset="-122"/>
                <a:cs typeface="DM Sans" pitchFamily="34" charset="-120"/>
              </a:rPr>
              <a:t>A retraining pipeline with a quality gate</a:t>
            </a:r>
            <a:endParaRPr lang="en-US" sz="3600" dirty="0"/>
          </a:p>
        </p:txBody>
      </p:sp>
      <p:sp>
        <p:nvSpPr>
          <p:cNvPr id="4" name="Shape 2"/>
          <p:cNvSpPr/>
          <p:nvPr/>
        </p:nvSpPr>
        <p:spPr>
          <a:xfrm>
            <a:off x="819138" y="1992561"/>
            <a:ext cx="1775455" cy="1464221"/>
          </a:xfrm>
          <a:prstGeom prst="roundRect">
            <a:avLst>
              <a:gd name="adj" fmla="val 8240"/>
            </a:avLst>
          </a:prstGeom>
          <a:solidFill>
            <a:srgbClr val="FFFDF8"/>
          </a:solidFill>
          <a:ln w="12700">
            <a:solidFill>
              <a:srgbClr val="E2DCCB"/>
            </a:solidFill>
            <a:prstDash val="solid"/>
          </a:ln>
        </p:spPr>
      </p:sp>
      <p:sp>
        <p:nvSpPr>
          <p:cNvPr id="5" name="Text 3"/>
          <p:cNvSpPr/>
          <p:nvPr/>
        </p:nvSpPr>
        <p:spPr>
          <a:xfrm>
            <a:off x="977255" y="2201478"/>
            <a:ext cx="1510021"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A5C12"/>
                </a:solidFill>
                <a:latin typeface="DM Sans" pitchFamily="34" charset="0"/>
                <a:ea typeface="DM Sans" pitchFamily="34" charset="-122"/>
                <a:cs typeface="DM Sans" pitchFamily="34" charset="-120"/>
              </a:rPr>
              <a:t>1</a:t>
            </a:r>
            <a:endParaRPr lang="en-US" sz="1200" dirty="0"/>
          </a:p>
        </p:txBody>
      </p:sp>
      <p:sp>
        <p:nvSpPr>
          <p:cNvPr id="6" name="Text 4"/>
          <p:cNvSpPr/>
          <p:nvPr/>
        </p:nvSpPr>
        <p:spPr>
          <a:xfrm>
            <a:off x="977255" y="2465611"/>
            <a:ext cx="1510021" cy="330181"/>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D1B18"/>
                </a:solidFill>
                <a:latin typeface="DM Sans" pitchFamily="34" charset="0"/>
                <a:ea typeface="DM Sans" pitchFamily="34" charset="-122"/>
                <a:cs typeface="DM Sans" pitchFamily="34" charset="-120"/>
              </a:rPr>
              <a:t>Ingest</a:t>
            </a:r>
            <a:endParaRPr lang="en-US" sz="2000" dirty="0"/>
          </a:p>
        </p:txBody>
      </p:sp>
      <p:sp>
        <p:nvSpPr>
          <p:cNvPr id="7" name="Text 5"/>
          <p:cNvSpPr/>
          <p:nvPr/>
        </p:nvSpPr>
        <p:spPr>
          <a:xfrm>
            <a:off x="977255" y="2821192"/>
            <a:ext cx="1510021"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63E"/>
                </a:solidFill>
                <a:latin typeface="DM Sans" pitchFamily="34" charset="0"/>
                <a:ea typeface="DM Sans" pitchFamily="34" charset="-122"/>
                <a:cs typeface="DM Sans" pitchFamily="34" charset="-120"/>
              </a:rPr>
              <a:t>Combine old and new data</a:t>
            </a:r>
            <a:endParaRPr lang="en-US" sz="1200" dirty="0"/>
          </a:p>
        </p:txBody>
      </p:sp>
      <p:pic>
        <p:nvPicPr>
          <p:cNvPr id="8" name="Image 0" descr="arrow-right">    </p:cNvPr>
          <p:cNvPicPr>
            <a:picLocks noChangeAspect="1"/>
          </p:cNvPicPr>
          <p:nvPr/>
        </p:nvPicPr>
        <p:blipFill>
          <a:blip r:embed="rId1"/>
          <a:srcRect l="0" r="0" t="0" b="0"/>
          <a:stretch/>
        </p:blipFill>
        <p:spPr>
          <a:xfrm>
            <a:off x="2677138" y="2648458"/>
            <a:ext cx="253984" cy="152391"/>
          </a:xfrm>
          <a:prstGeom prst="rect">
            <a:avLst/>
          </a:prstGeom>
        </p:spPr>
      </p:pic>
      <p:sp>
        <p:nvSpPr>
          <p:cNvPr id="9" name="Shape 6"/>
          <p:cNvSpPr/>
          <p:nvPr/>
        </p:nvSpPr>
        <p:spPr>
          <a:xfrm>
            <a:off x="3013668" y="1992561"/>
            <a:ext cx="1775493" cy="1464221"/>
          </a:xfrm>
          <a:prstGeom prst="roundRect">
            <a:avLst>
              <a:gd name="adj" fmla="val 8240"/>
            </a:avLst>
          </a:prstGeom>
          <a:solidFill>
            <a:srgbClr val="FFFDF8"/>
          </a:solidFill>
          <a:ln w="12700">
            <a:solidFill>
              <a:srgbClr val="E2DCCB"/>
            </a:solidFill>
            <a:prstDash val="solid"/>
          </a:ln>
        </p:spPr>
      </p:sp>
      <p:sp>
        <p:nvSpPr>
          <p:cNvPr id="10" name="Text 7"/>
          <p:cNvSpPr/>
          <p:nvPr/>
        </p:nvSpPr>
        <p:spPr>
          <a:xfrm>
            <a:off x="3171785" y="2201478"/>
            <a:ext cx="1510059"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A5C12"/>
                </a:solidFill>
                <a:latin typeface="DM Sans" pitchFamily="34" charset="0"/>
                <a:ea typeface="DM Sans" pitchFamily="34" charset="-122"/>
                <a:cs typeface="DM Sans" pitchFamily="34" charset="-120"/>
              </a:rPr>
              <a:t>2</a:t>
            </a:r>
            <a:endParaRPr lang="en-US" sz="1200" dirty="0"/>
          </a:p>
        </p:txBody>
      </p:sp>
      <p:sp>
        <p:nvSpPr>
          <p:cNvPr id="11" name="Text 8"/>
          <p:cNvSpPr/>
          <p:nvPr/>
        </p:nvSpPr>
        <p:spPr>
          <a:xfrm>
            <a:off x="3171785" y="2465611"/>
            <a:ext cx="1510059" cy="330181"/>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D1B18"/>
                </a:solidFill>
                <a:latin typeface="DM Sans" pitchFamily="34" charset="0"/>
                <a:ea typeface="DM Sans" pitchFamily="34" charset="-122"/>
                <a:cs typeface="DM Sans" pitchFamily="34" charset="-120"/>
              </a:rPr>
              <a:t>Retrain</a:t>
            </a:r>
            <a:endParaRPr lang="en-US" sz="2000" dirty="0"/>
          </a:p>
        </p:txBody>
      </p:sp>
      <p:sp>
        <p:nvSpPr>
          <p:cNvPr id="12" name="Text 9"/>
          <p:cNvSpPr/>
          <p:nvPr/>
        </p:nvSpPr>
        <p:spPr>
          <a:xfrm>
            <a:off x="3171785" y="2821192"/>
            <a:ext cx="1510059"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63E"/>
                </a:solidFill>
                <a:latin typeface="DM Sans" pitchFamily="34" charset="0"/>
                <a:ea typeface="DM Sans" pitchFamily="34" charset="-122"/>
                <a:cs typeface="DM Sans" pitchFamily="34" charset="-120"/>
              </a:rPr>
              <a:t>Train a new candidate model</a:t>
            </a:r>
            <a:endParaRPr lang="en-US" sz="1200" dirty="0"/>
          </a:p>
        </p:txBody>
      </p:sp>
      <p:pic>
        <p:nvPicPr>
          <p:cNvPr id="13" name="Image 1" descr="arrow-right">    </p:cNvPr>
          <p:cNvPicPr>
            <a:picLocks noChangeAspect="1"/>
          </p:cNvPicPr>
          <p:nvPr/>
        </p:nvPicPr>
        <p:blipFill>
          <a:blip r:embed="rId2"/>
          <a:srcRect l="0" r="0" t="0" b="0"/>
          <a:stretch/>
        </p:blipFill>
        <p:spPr>
          <a:xfrm>
            <a:off x="4871707" y="2648458"/>
            <a:ext cx="253984" cy="152391"/>
          </a:xfrm>
          <a:prstGeom prst="rect">
            <a:avLst/>
          </a:prstGeom>
        </p:spPr>
      </p:pic>
      <p:sp>
        <p:nvSpPr>
          <p:cNvPr id="14" name="Shape 10"/>
          <p:cNvSpPr/>
          <p:nvPr/>
        </p:nvSpPr>
        <p:spPr>
          <a:xfrm>
            <a:off x="5208236" y="1992561"/>
            <a:ext cx="1775455" cy="1464221"/>
          </a:xfrm>
          <a:prstGeom prst="roundRect">
            <a:avLst>
              <a:gd name="adj" fmla="val 8240"/>
            </a:avLst>
          </a:prstGeom>
          <a:solidFill>
            <a:srgbClr val="CFB87C"/>
          </a:solidFill>
          <a:ln w="12700">
            <a:solidFill>
              <a:srgbClr val="B59A55"/>
            </a:solidFill>
            <a:prstDash val="solid"/>
          </a:ln>
        </p:spPr>
      </p:sp>
      <p:sp>
        <p:nvSpPr>
          <p:cNvPr id="15" name="Text 11"/>
          <p:cNvSpPr/>
          <p:nvPr/>
        </p:nvSpPr>
        <p:spPr>
          <a:xfrm>
            <a:off x="5366353" y="2201478"/>
            <a:ext cx="1510021"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1B18"/>
                </a:solidFill>
                <a:latin typeface="DM Sans" pitchFamily="34" charset="0"/>
                <a:ea typeface="DM Sans" pitchFamily="34" charset="-122"/>
                <a:cs typeface="DM Sans" pitchFamily="34" charset="-120"/>
              </a:rPr>
              <a:t>3 · Gate</a:t>
            </a:r>
            <a:endParaRPr lang="en-US" sz="1200" dirty="0"/>
          </a:p>
        </p:txBody>
      </p:sp>
      <p:sp>
        <p:nvSpPr>
          <p:cNvPr id="16" name="Text 12"/>
          <p:cNvSpPr/>
          <p:nvPr/>
        </p:nvSpPr>
        <p:spPr>
          <a:xfrm>
            <a:off x="5366353" y="2465611"/>
            <a:ext cx="1510021" cy="330181"/>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D1B18"/>
                </a:solidFill>
                <a:latin typeface="DM Sans" pitchFamily="34" charset="0"/>
                <a:ea typeface="DM Sans" pitchFamily="34" charset="-122"/>
                <a:cs typeface="DM Sans" pitchFamily="34" charset="-120"/>
              </a:rPr>
              <a:t>Evaluate</a:t>
            </a:r>
            <a:endParaRPr lang="en-US" sz="2000" dirty="0"/>
          </a:p>
        </p:txBody>
      </p:sp>
      <p:sp>
        <p:nvSpPr>
          <p:cNvPr id="17" name="Text 13"/>
          <p:cNvSpPr/>
          <p:nvPr/>
        </p:nvSpPr>
        <p:spPr>
          <a:xfrm>
            <a:off x="5366353" y="2821192"/>
            <a:ext cx="1510021"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1B18"/>
                </a:solidFill>
                <a:latin typeface="DM Sans" pitchFamily="34" charset="0"/>
                <a:ea typeface="DM Sans" pitchFamily="34" charset="-122"/>
                <a:cs typeface="DM Sans" pitchFamily="34" charset="-120"/>
              </a:rPr>
              <a:t>Accuracy ≥ 85% and recall ≥ 80%</a:t>
            </a:r>
            <a:endParaRPr lang="en-US" sz="1200" dirty="0"/>
          </a:p>
        </p:txBody>
      </p:sp>
      <p:pic>
        <p:nvPicPr>
          <p:cNvPr id="18" name="Image 2" descr="arrow-right">    </p:cNvPr>
          <p:cNvPicPr>
            <a:picLocks noChangeAspect="1"/>
          </p:cNvPicPr>
          <p:nvPr/>
        </p:nvPicPr>
        <p:blipFill>
          <a:blip r:embed="rId3"/>
          <a:srcRect l="0" r="0" t="0" b="0"/>
          <a:stretch/>
        </p:blipFill>
        <p:spPr>
          <a:xfrm>
            <a:off x="7066237" y="2648458"/>
            <a:ext cx="253984" cy="152391"/>
          </a:xfrm>
          <a:prstGeom prst="rect">
            <a:avLst/>
          </a:prstGeom>
        </p:spPr>
      </p:pic>
      <p:sp>
        <p:nvSpPr>
          <p:cNvPr id="19" name="Shape 14"/>
          <p:cNvSpPr/>
          <p:nvPr/>
        </p:nvSpPr>
        <p:spPr>
          <a:xfrm>
            <a:off x="7402766" y="1992561"/>
            <a:ext cx="1775493" cy="1464221"/>
          </a:xfrm>
          <a:prstGeom prst="roundRect">
            <a:avLst>
              <a:gd name="adj" fmla="val 8240"/>
            </a:avLst>
          </a:prstGeom>
          <a:solidFill>
            <a:srgbClr val="FFFDF8"/>
          </a:solidFill>
          <a:ln w="12700">
            <a:solidFill>
              <a:srgbClr val="E2DCCB"/>
            </a:solidFill>
            <a:prstDash val="solid"/>
          </a:ln>
        </p:spPr>
      </p:sp>
      <p:sp>
        <p:nvSpPr>
          <p:cNvPr id="20" name="Text 15"/>
          <p:cNvSpPr/>
          <p:nvPr/>
        </p:nvSpPr>
        <p:spPr>
          <a:xfrm>
            <a:off x="7560883" y="2201478"/>
            <a:ext cx="1510059"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A5C12"/>
                </a:solidFill>
                <a:latin typeface="DM Sans" pitchFamily="34" charset="0"/>
                <a:ea typeface="DM Sans" pitchFamily="34" charset="-122"/>
                <a:cs typeface="DM Sans" pitchFamily="34" charset="-120"/>
              </a:rPr>
              <a:t>4</a:t>
            </a:r>
            <a:endParaRPr lang="en-US" sz="1200" dirty="0"/>
          </a:p>
        </p:txBody>
      </p:sp>
      <p:sp>
        <p:nvSpPr>
          <p:cNvPr id="21" name="Text 16"/>
          <p:cNvSpPr/>
          <p:nvPr/>
        </p:nvSpPr>
        <p:spPr>
          <a:xfrm>
            <a:off x="7560883" y="2465611"/>
            <a:ext cx="1510059" cy="330181"/>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D1B18"/>
                </a:solidFill>
                <a:latin typeface="DM Sans" pitchFamily="34" charset="0"/>
                <a:ea typeface="DM Sans" pitchFamily="34" charset="-122"/>
                <a:cs typeface="DM Sans" pitchFamily="34" charset="-120"/>
              </a:rPr>
              <a:t>Version</a:t>
            </a:r>
            <a:endParaRPr lang="en-US" sz="2000" dirty="0"/>
          </a:p>
        </p:txBody>
      </p:sp>
      <p:sp>
        <p:nvSpPr>
          <p:cNvPr id="22" name="Text 17"/>
          <p:cNvSpPr/>
          <p:nvPr/>
        </p:nvSpPr>
        <p:spPr>
          <a:xfrm>
            <a:off x="7560883" y="2821192"/>
            <a:ext cx="1510059"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63E"/>
                </a:solidFill>
                <a:latin typeface="DM Sans" pitchFamily="34" charset="0"/>
                <a:ea typeface="DM Sans" pitchFamily="34" charset="-122"/>
                <a:cs typeface="DM Sans" pitchFamily="34" charset="-120"/>
              </a:rPr>
              <a:t>Save a timestamped model file</a:t>
            </a:r>
            <a:endParaRPr lang="en-US" sz="1200" dirty="0"/>
          </a:p>
        </p:txBody>
      </p:sp>
      <p:pic>
        <p:nvPicPr>
          <p:cNvPr id="23" name="Image 3" descr="arrow-right">    </p:cNvPr>
          <p:cNvPicPr>
            <a:picLocks noChangeAspect="1"/>
          </p:cNvPicPr>
          <p:nvPr/>
        </p:nvPicPr>
        <p:blipFill>
          <a:blip r:embed="rId4"/>
          <a:srcRect l="0" r="0" t="0" b="0"/>
          <a:stretch/>
        </p:blipFill>
        <p:spPr>
          <a:xfrm>
            <a:off x="9260804" y="2648458"/>
            <a:ext cx="253984" cy="152391"/>
          </a:xfrm>
          <a:prstGeom prst="rect">
            <a:avLst/>
          </a:prstGeom>
        </p:spPr>
      </p:pic>
      <p:sp>
        <p:nvSpPr>
          <p:cNvPr id="24" name="Shape 18"/>
          <p:cNvSpPr/>
          <p:nvPr/>
        </p:nvSpPr>
        <p:spPr>
          <a:xfrm>
            <a:off x="9597334" y="1992561"/>
            <a:ext cx="1775493" cy="1464221"/>
          </a:xfrm>
          <a:prstGeom prst="roundRect">
            <a:avLst>
              <a:gd name="adj" fmla="val 8240"/>
            </a:avLst>
          </a:prstGeom>
          <a:solidFill>
            <a:srgbClr val="FFFDF8"/>
          </a:solidFill>
          <a:ln w="12700">
            <a:solidFill>
              <a:srgbClr val="E2DCCB"/>
            </a:solidFill>
            <a:prstDash val="solid"/>
          </a:ln>
        </p:spPr>
      </p:sp>
      <p:sp>
        <p:nvSpPr>
          <p:cNvPr id="25" name="Text 19"/>
          <p:cNvSpPr/>
          <p:nvPr/>
        </p:nvSpPr>
        <p:spPr>
          <a:xfrm>
            <a:off x="9755452" y="2201478"/>
            <a:ext cx="1510059"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A5C12"/>
                </a:solidFill>
                <a:latin typeface="DM Sans" pitchFamily="34" charset="0"/>
                <a:ea typeface="DM Sans" pitchFamily="34" charset="-122"/>
                <a:cs typeface="DM Sans" pitchFamily="34" charset="-120"/>
              </a:rPr>
              <a:t>5</a:t>
            </a:r>
            <a:endParaRPr lang="en-US" sz="1200" dirty="0"/>
          </a:p>
        </p:txBody>
      </p:sp>
      <p:sp>
        <p:nvSpPr>
          <p:cNvPr id="26" name="Text 20"/>
          <p:cNvSpPr/>
          <p:nvPr/>
        </p:nvSpPr>
        <p:spPr>
          <a:xfrm>
            <a:off x="9755452" y="2465611"/>
            <a:ext cx="1510059" cy="330181"/>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D1B18"/>
                </a:solidFill>
                <a:latin typeface="DM Sans" pitchFamily="34" charset="0"/>
                <a:ea typeface="DM Sans" pitchFamily="34" charset="-122"/>
                <a:cs typeface="DM Sans" pitchFamily="34" charset="-120"/>
              </a:rPr>
              <a:t>Promote</a:t>
            </a:r>
            <a:endParaRPr lang="en-US" sz="2000" dirty="0"/>
          </a:p>
        </p:txBody>
      </p:sp>
      <p:sp>
        <p:nvSpPr>
          <p:cNvPr id="27" name="Text 21"/>
          <p:cNvSpPr/>
          <p:nvPr/>
        </p:nvSpPr>
        <p:spPr>
          <a:xfrm>
            <a:off x="9755452" y="2821192"/>
            <a:ext cx="1510059"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63E"/>
                </a:solidFill>
                <a:latin typeface="DM Sans" pitchFamily="34" charset="0"/>
                <a:ea typeface="DM Sans" pitchFamily="34" charset="-122"/>
                <a:cs typeface="DM Sans" pitchFamily="34" charset="-120"/>
              </a:rPr>
              <a:t>Replace the production model</a:t>
            </a:r>
            <a:endParaRPr lang="en-US" sz="1200" dirty="0"/>
          </a:p>
        </p:txBody>
      </p:sp>
      <p:sp>
        <p:nvSpPr>
          <p:cNvPr id="28" name="Shape 22"/>
          <p:cNvSpPr/>
          <p:nvPr/>
        </p:nvSpPr>
        <p:spPr>
          <a:xfrm>
            <a:off x="812788" y="3818713"/>
            <a:ext cx="5181582" cy="949856"/>
          </a:xfrm>
          <a:prstGeom prst="roundRect">
            <a:avLst>
              <a:gd name="adj" fmla="val 8022"/>
            </a:avLst>
          </a:prstGeom>
          <a:solidFill>
            <a:srgbClr val="FFFDF8"/>
          </a:solidFill>
          <a:ln/>
        </p:spPr>
      </p:sp>
      <p:sp>
        <p:nvSpPr>
          <p:cNvPr id="29" name="Shape 23"/>
          <p:cNvSpPr/>
          <p:nvPr/>
        </p:nvSpPr>
        <p:spPr>
          <a:xfrm>
            <a:off x="812788" y="3818713"/>
            <a:ext cx="5181582" cy="949856"/>
          </a:xfrm>
          <a:custGeom>
            <a:avLst/>
            <a:gdLst/>
            <a:ahLst/>
            <a:cxnLst/>
            <a:rect l="l" t="t" r="r" b="b"/>
            <a:pathLst>
              <a:path w="5181582" h="949856">
                <a:moveTo>
                  <a:pt x="76200" y="949856"/>
                </a:moveTo>
                <a:lnTo>
                  <a:pt x="76200" y="949856"/>
                </a:lnTo>
                <a:arcTo hR="76200" wR="76200" stAng="5400000" swAng="5400000"/>
                <a:lnTo>
                  <a:pt x="0" y="76200"/>
                </a:lnTo>
                <a:arcTo hR="76200" wR="76200" stAng="10800000" swAng="5400000"/>
                <a:lnTo>
                  <a:pt x="76200" y="0"/>
                </a:lnTo>
                <a:arcTo hR="76200" wR="25400" stAng="16200000" swAng="-5400000"/>
                <a:lnTo>
                  <a:pt x="50800" y="873656"/>
                </a:lnTo>
                <a:arcTo hR="76200" wR="25400" stAng="10800000" swAng="-5400000"/>
                <a:close/>
              </a:path>
            </a:pathLst>
          </a:custGeom>
          <a:solidFill>
            <a:srgbClr val="CFB87C"/>
          </a:solidFill>
          <a:ln/>
        </p:spPr>
      </p:sp>
      <p:sp>
        <p:nvSpPr>
          <p:cNvPr id="30" name="Text 24"/>
          <p:cNvSpPr/>
          <p:nvPr/>
        </p:nvSpPr>
        <p:spPr>
          <a:xfrm>
            <a:off x="1117493" y="4021900"/>
            <a:ext cx="4761579"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1B18"/>
                </a:solidFill>
                <a:latin typeface="DM Sans" pitchFamily="34" charset="0"/>
                <a:ea typeface="DM Sans" pitchFamily="34" charset="-122"/>
                <a:cs typeface="DM Sans" pitchFamily="34" charset="-120"/>
              </a:rPr>
              <a:t>Why a gate?</a:t>
            </a:r>
            <a:endParaRPr lang="en-US" sz="1600" dirty="0"/>
          </a:p>
        </p:txBody>
      </p:sp>
      <p:sp>
        <p:nvSpPr>
          <p:cNvPr id="31" name="Text 25"/>
          <p:cNvSpPr/>
          <p:nvPr/>
        </p:nvSpPr>
        <p:spPr>
          <a:xfrm>
            <a:off x="1117493" y="4316493"/>
            <a:ext cx="476157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63E"/>
                </a:solidFill>
                <a:latin typeface="DM Sans" pitchFamily="34" charset="0"/>
                <a:ea typeface="DM Sans" pitchFamily="34" charset="-122"/>
                <a:cs typeface="DM Sans" pitchFamily="34" charset="-120"/>
              </a:rPr>
              <a:t>A bad model never reaches users; the old one stays.</a:t>
            </a:r>
            <a:endParaRPr lang="en-US" sz="1400" dirty="0"/>
          </a:p>
        </p:txBody>
      </p:sp>
      <p:sp>
        <p:nvSpPr>
          <p:cNvPr id="32" name="Shape 26"/>
          <p:cNvSpPr/>
          <p:nvPr/>
        </p:nvSpPr>
        <p:spPr>
          <a:xfrm>
            <a:off x="6197557" y="3818713"/>
            <a:ext cx="5181620" cy="949856"/>
          </a:xfrm>
          <a:prstGeom prst="roundRect">
            <a:avLst>
              <a:gd name="adj" fmla="val 8022"/>
            </a:avLst>
          </a:prstGeom>
          <a:solidFill>
            <a:srgbClr val="FFFDF8"/>
          </a:solidFill>
          <a:ln/>
        </p:spPr>
      </p:sp>
      <p:sp>
        <p:nvSpPr>
          <p:cNvPr id="33" name="Shape 27"/>
          <p:cNvSpPr/>
          <p:nvPr/>
        </p:nvSpPr>
        <p:spPr>
          <a:xfrm>
            <a:off x="6197557" y="3818713"/>
            <a:ext cx="5181620" cy="949856"/>
          </a:xfrm>
          <a:custGeom>
            <a:avLst/>
            <a:gdLst/>
            <a:ahLst/>
            <a:cxnLst/>
            <a:rect l="l" t="t" r="r" b="b"/>
            <a:pathLst>
              <a:path w="5181620" h="949856">
                <a:moveTo>
                  <a:pt x="76200" y="949856"/>
                </a:moveTo>
                <a:lnTo>
                  <a:pt x="76200" y="949856"/>
                </a:lnTo>
                <a:arcTo hR="76200" wR="76200" stAng="5400000" swAng="5400000"/>
                <a:lnTo>
                  <a:pt x="0" y="76200"/>
                </a:lnTo>
                <a:arcTo hR="76200" wR="76200" stAng="10800000" swAng="5400000"/>
                <a:lnTo>
                  <a:pt x="76200" y="0"/>
                </a:lnTo>
                <a:arcTo hR="76200" wR="25400" stAng="16200000" swAng="-5400000"/>
                <a:lnTo>
                  <a:pt x="50800" y="873656"/>
                </a:lnTo>
                <a:arcTo hR="76200" wR="25400" stAng="10800000" swAng="-5400000"/>
                <a:close/>
              </a:path>
            </a:pathLst>
          </a:custGeom>
          <a:solidFill>
            <a:srgbClr val="CFB87C"/>
          </a:solidFill>
          <a:ln/>
        </p:spPr>
      </p:sp>
      <p:sp>
        <p:nvSpPr>
          <p:cNvPr id="34" name="Text 28"/>
          <p:cNvSpPr/>
          <p:nvPr/>
        </p:nvSpPr>
        <p:spPr>
          <a:xfrm>
            <a:off x="6502263" y="4021900"/>
            <a:ext cx="4761618"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1B18"/>
                </a:solidFill>
                <a:latin typeface="DM Sans" pitchFamily="34" charset="0"/>
                <a:ea typeface="DM Sans" pitchFamily="34" charset="-122"/>
                <a:cs typeface="DM Sans" pitchFamily="34" charset="-120"/>
              </a:rPr>
              <a:t>Why versions?</a:t>
            </a:r>
            <a:endParaRPr lang="en-US" sz="1600" dirty="0"/>
          </a:p>
        </p:txBody>
      </p:sp>
      <p:sp>
        <p:nvSpPr>
          <p:cNvPr id="35" name="Text 29"/>
          <p:cNvSpPr/>
          <p:nvPr/>
        </p:nvSpPr>
        <p:spPr>
          <a:xfrm>
            <a:off x="6502263" y="4316493"/>
            <a:ext cx="4761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63E"/>
                </a:solidFill>
                <a:latin typeface="DM Sans" pitchFamily="34" charset="0"/>
                <a:ea typeface="DM Sans" pitchFamily="34" charset="-122"/>
                <a:cs typeface="DM Sans" pitchFamily="34" charset="-120"/>
              </a:rPr>
              <a:t>If something breaks, roll back to yesterday’s model.</a:t>
            </a:r>
            <a:endParaRPr lang="en-US" sz="1400" dirty="0"/>
          </a:p>
        </p:txBody>
      </p:sp>
      <p:sp>
        <p:nvSpPr>
          <p:cNvPr id="36" name="Text 30"/>
          <p:cNvSpPr/>
          <p:nvPr/>
        </p:nvSpPr>
        <p:spPr>
          <a:xfrm>
            <a:off x="812788" y="6238280"/>
            <a:ext cx="6540485"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65C"/>
                </a:solidFill>
                <a:latin typeface="DM Sans" pitchFamily="34" charset="0"/>
                <a:ea typeface="DM Sans" pitchFamily="34" charset="-122"/>
                <a:cs typeface="DM Sans" pitchFamily="34" charset="-120"/>
              </a:rPr>
              <a:t>5350 Applied Deep Learning · MLOps</a:t>
            </a:r>
            <a:endParaRPr lang="en-US" sz="1200" dirty="0"/>
          </a:p>
        </p:txBody>
      </p:sp>
      <p:sp>
        <p:nvSpPr>
          <p:cNvPr id="37" name="Text 31"/>
          <p:cNvSpPr/>
          <p:nvPr/>
        </p:nvSpPr>
        <p:spPr>
          <a:xfrm>
            <a:off x="10058381" y="6238280"/>
            <a:ext cx="1320797"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65C"/>
                </a:solidFill>
                <a:latin typeface="DM Sans" pitchFamily="34" charset="0"/>
                <a:ea typeface="DM Sans" pitchFamily="34" charset="-122"/>
                <a:cs typeface="DM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A5C12"/>
                </a:solidFill>
                <a:latin typeface="DM Sans" pitchFamily="34" charset="0"/>
                <a:ea typeface="DM Sans" pitchFamily="34" charset="-122"/>
                <a:cs typeface="DM Sans" pitchFamily="34" charset="-120"/>
              </a:rPr>
              <a:t>DEPLOYMENT STRATEGIES</a:t>
            </a:r>
            <a:endParaRPr lang="en-US" sz="1200" dirty="0"/>
          </a:p>
        </p:txBody>
      </p:sp>
      <p:sp>
        <p:nvSpPr>
          <p:cNvPr id="3" name="Text 1"/>
          <p:cNvSpPr/>
          <p:nvPr>
            <p:ph type="title"/>
          </p:nvPr>
        </p:nvSpPr>
        <p:spPr>
          <a:xfrm>
            <a:off x="812788" y="1127720"/>
            <a:ext cx="10883382" cy="528312"/>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1B18"/>
                </a:solidFill>
                <a:latin typeface="DM Sans" pitchFamily="34" charset="0"/>
                <a:ea typeface="DM Sans" pitchFamily="34" charset="-122"/>
                <a:cs typeface="DM Sans" pitchFamily="34" charset="-120"/>
              </a:rPr>
              <a:t>Ship new models safely, not all at once</a:t>
            </a:r>
            <a:endParaRPr lang="en-US" sz="3600" dirty="0"/>
          </a:p>
        </p:txBody>
      </p:sp>
      <p:sp>
        <p:nvSpPr>
          <p:cNvPr id="4" name="Shape 2"/>
          <p:cNvSpPr/>
          <p:nvPr/>
        </p:nvSpPr>
        <p:spPr>
          <a:xfrm>
            <a:off x="819138" y="1941767"/>
            <a:ext cx="3373972" cy="2276895"/>
          </a:xfrm>
          <a:prstGeom prst="roundRect">
            <a:avLst>
              <a:gd name="adj" fmla="val 5299"/>
            </a:avLst>
          </a:prstGeom>
          <a:solidFill>
            <a:srgbClr val="FFFDF8"/>
          </a:solidFill>
          <a:ln w="12700">
            <a:solidFill>
              <a:srgbClr val="E2DCCB"/>
            </a:solidFill>
            <a:prstDash val="solid"/>
          </a:ln>
        </p:spPr>
      </p:sp>
      <p:sp>
        <p:nvSpPr>
          <p:cNvPr id="5" name="Text 3"/>
          <p:cNvSpPr/>
          <p:nvPr/>
        </p:nvSpPr>
        <p:spPr>
          <a:xfrm>
            <a:off x="1078848" y="2201472"/>
            <a:ext cx="2940186" cy="36063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D1B18"/>
                </a:solidFill>
                <a:latin typeface="DM Sans" pitchFamily="34" charset="0"/>
                <a:ea typeface="DM Sans" pitchFamily="34" charset="-122"/>
                <a:cs typeface="DM Sans" pitchFamily="34" charset="-120"/>
              </a:rPr>
              <a:t>Shadow</a:t>
            </a:r>
            <a:endParaRPr lang="en-US" sz="2200" dirty="0"/>
          </a:p>
        </p:txBody>
      </p:sp>
      <p:sp>
        <p:nvSpPr>
          <p:cNvPr id="6" name="Text 4"/>
          <p:cNvSpPr/>
          <p:nvPr/>
        </p:nvSpPr>
        <p:spPr>
          <a:xfrm>
            <a:off x="1078848" y="2638307"/>
            <a:ext cx="2940186" cy="878719"/>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63E"/>
                </a:solidFill>
                <a:latin typeface="DM Sans" pitchFamily="34" charset="0"/>
                <a:ea typeface="DM Sans" pitchFamily="34" charset="-122"/>
                <a:cs typeface="DM Sans" pitchFamily="34" charset="-120"/>
              </a:rPr>
              <a:t>The new model sees real traffic, but users only get the old model’s answer.</a:t>
            </a:r>
            <a:endParaRPr lang="en-US" sz="1600" dirty="0"/>
          </a:p>
        </p:txBody>
      </p:sp>
      <p:sp>
        <p:nvSpPr>
          <p:cNvPr id="7" name="Text 5"/>
          <p:cNvSpPr/>
          <p:nvPr/>
        </p:nvSpPr>
        <p:spPr>
          <a:xfrm>
            <a:off x="1078848" y="3593219"/>
            <a:ext cx="2854550" cy="365730"/>
          </a:xfrm>
          <a:prstGeom prst="roundRect">
            <a:avLst>
              <a:gd name="adj" fmla="val 20835"/>
            </a:avLst>
          </a:prstGeom>
          <a:solidFill>
            <a:srgbClr val="F3EBD3"/>
          </a:solidFill>
          <a:ln/>
        </p:spPr>
        <p:txBody>
          <a:bodyPr wrap="square" lIns="104682" tIns="53882" rIns="26665" bIns="28482" rtlCol="0" anchor="t">
            <a:normAutofit/>
          </a:bodyPr>
          <a:lstStyle/>
          <a:p>
            <a:pPr algn="l" indent="0" marL="0">
              <a:lnSpc>
                <a:spcPts val="1680"/>
              </a:lnSpc>
              <a:buNone/>
            </a:pPr>
            <a:r>
              <a:rPr lang="en-US" sz="1200" b="1" dirty="0">
                <a:solidFill>
                  <a:srgbClr val="7A5C12"/>
                </a:solidFill>
                <a:latin typeface="DM Sans" pitchFamily="34" charset="0"/>
                <a:ea typeface="DM Sans" pitchFamily="34" charset="-122"/>
                <a:cs typeface="DM Sans" pitchFamily="34" charset="-120"/>
              </a:rPr>
              <a:t>Zero risk to users</a:t>
            </a:r>
            <a:endParaRPr lang="en-US" sz="1200" dirty="0"/>
          </a:p>
        </p:txBody>
      </p:sp>
      <p:sp>
        <p:nvSpPr>
          <p:cNvPr id="8" name="Shape 6"/>
          <p:cNvSpPr/>
          <p:nvPr/>
        </p:nvSpPr>
        <p:spPr>
          <a:xfrm>
            <a:off x="4408997" y="1941767"/>
            <a:ext cx="3373972" cy="2276895"/>
          </a:xfrm>
          <a:prstGeom prst="roundRect">
            <a:avLst>
              <a:gd name="adj" fmla="val 5299"/>
            </a:avLst>
          </a:prstGeom>
          <a:solidFill>
            <a:srgbClr val="FFFDF8"/>
          </a:solidFill>
          <a:ln w="12700">
            <a:solidFill>
              <a:srgbClr val="E2DCCB"/>
            </a:solidFill>
            <a:prstDash val="solid"/>
          </a:ln>
        </p:spPr>
      </p:sp>
      <p:sp>
        <p:nvSpPr>
          <p:cNvPr id="9" name="Text 7"/>
          <p:cNvSpPr/>
          <p:nvPr/>
        </p:nvSpPr>
        <p:spPr>
          <a:xfrm>
            <a:off x="4668708" y="2201472"/>
            <a:ext cx="2940186" cy="36063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D1B18"/>
                </a:solidFill>
                <a:latin typeface="DM Sans" pitchFamily="34" charset="0"/>
                <a:ea typeface="DM Sans" pitchFamily="34" charset="-122"/>
                <a:cs typeface="DM Sans" pitchFamily="34" charset="-120"/>
              </a:rPr>
              <a:t>Canary</a:t>
            </a:r>
            <a:endParaRPr lang="en-US" sz="2200" dirty="0"/>
          </a:p>
        </p:txBody>
      </p:sp>
      <p:sp>
        <p:nvSpPr>
          <p:cNvPr id="10" name="Text 8"/>
          <p:cNvSpPr/>
          <p:nvPr/>
        </p:nvSpPr>
        <p:spPr>
          <a:xfrm>
            <a:off x="4668708" y="2638307"/>
            <a:ext cx="2940186" cy="878719"/>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63E"/>
                </a:solidFill>
                <a:latin typeface="DM Sans" pitchFamily="34" charset="0"/>
                <a:ea typeface="DM Sans" pitchFamily="34" charset="-122"/>
                <a:cs typeface="DM Sans" pitchFamily="34" charset="-120"/>
              </a:rPr>
              <a:t>Send 5–10% of traffic to the new model. Grow it if metrics hold.</a:t>
            </a:r>
            <a:endParaRPr lang="en-US" sz="1600" dirty="0"/>
          </a:p>
        </p:txBody>
      </p:sp>
      <p:sp>
        <p:nvSpPr>
          <p:cNvPr id="11" name="Text 9"/>
          <p:cNvSpPr/>
          <p:nvPr/>
        </p:nvSpPr>
        <p:spPr>
          <a:xfrm>
            <a:off x="4668708" y="3593219"/>
            <a:ext cx="2854550" cy="365730"/>
          </a:xfrm>
          <a:prstGeom prst="roundRect">
            <a:avLst>
              <a:gd name="adj" fmla="val 20835"/>
            </a:avLst>
          </a:prstGeom>
          <a:solidFill>
            <a:srgbClr val="F3EBD3"/>
          </a:solidFill>
          <a:ln/>
        </p:spPr>
        <p:txBody>
          <a:bodyPr wrap="square" lIns="104682" tIns="53882" rIns="26665" bIns="28482" rtlCol="0" anchor="t">
            <a:normAutofit/>
          </a:bodyPr>
          <a:lstStyle/>
          <a:p>
            <a:pPr algn="l" indent="0" marL="0">
              <a:lnSpc>
                <a:spcPts val="1680"/>
              </a:lnSpc>
              <a:buNone/>
            </a:pPr>
            <a:r>
              <a:rPr lang="en-US" sz="1200" b="1" dirty="0">
                <a:solidFill>
                  <a:srgbClr val="7A5C12"/>
                </a:solidFill>
                <a:latin typeface="DM Sans" pitchFamily="34" charset="0"/>
                <a:ea typeface="DM Sans" pitchFamily="34" charset="-122"/>
                <a:cs typeface="DM Sans" pitchFamily="34" charset="-120"/>
              </a:rPr>
              <a:t>Small blast radius</a:t>
            </a:r>
            <a:endParaRPr lang="en-US" sz="1200" dirty="0"/>
          </a:p>
        </p:txBody>
      </p:sp>
      <p:sp>
        <p:nvSpPr>
          <p:cNvPr id="12" name="Shape 10"/>
          <p:cNvSpPr/>
          <p:nvPr/>
        </p:nvSpPr>
        <p:spPr>
          <a:xfrm>
            <a:off x="7998856" y="1941767"/>
            <a:ext cx="3373972" cy="2276895"/>
          </a:xfrm>
          <a:prstGeom prst="roundRect">
            <a:avLst>
              <a:gd name="adj" fmla="val 5299"/>
            </a:avLst>
          </a:prstGeom>
          <a:solidFill>
            <a:srgbClr val="FFFDF8"/>
          </a:solidFill>
          <a:ln w="12700">
            <a:solidFill>
              <a:srgbClr val="E2DCCB"/>
            </a:solidFill>
            <a:prstDash val="solid"/>
          </a:ln>
        </p:spPr>
      </p:sp>
      <p:sp>
        <p:nvSpPr>
          <p:cNvPr id="13" name="Text 11"/>
          <p:cNvSpPr/>
          <p:nvPr/>
        </p:nvSpPr>
        <p:spPr>
          <a:xfrm>
            <a:off x="8258566" y="2201472"/>
            <a:ext cx="2940186" cy="36063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D1B18"/>
                </a:solidFill>
                <a:latin typeface="DM Sans" pitchFamily="34" charset="0"/>
                <a:ea typeface="DM Sans" pitchFamily="34" charset="-122"/>
                <a:cs typeface="DM Sans" pitchFamily="34" charset="-120"/>
              </a:rPr>
              <a:t>Blue / Green</a:t>
            </a:r>
            <a:endParaRPr lang="en-US" sz="2200" dirty="0"/>
          </a:p>
        </p:txBody>
      </p:sp>
      <p:sp>
        <p:nvSpPr>
          <p:cNvPr id="14" name="Text 12"/>
          <p:cNvSpPr/>
          <p:nvPr/>
        </p:nvSpPr>
        <p:spPr>
          <a:xfrm>
            <a:off x="8258566" y="2638307"/>
            <a:ext cx="2940186" cy="878719"/>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63E"/>
                </a:solidFill>
                <a:latin typeface="DM Sans" pitchFamily="34" charset="0"/>
                <a:ea typeface="DM Sans" pitchFamily="34" charset="-122"/>
                <a:cs typeface="DM Sans" pitchFamily="34" charset="-120"/>
              </a:rPr>
              <a:t>Two identical environments. Deploy to the idle one, then flip the switch.</a:t>
            </a:r>
            <a:endParaRPr lang="en-US" sz="1600" dirty="0"/>
          </a:p>
        </p:txBody>
      </p:sp>
      <p:sp>
        <p:nvSpPr>
          <p:cNvPr id="15" name="Text 13"/>
          <p:cNvSpPr/>
          <p:nvPr/>
        </p:nvSpPr>
        <p:spPr>
          <a:xfrm>
            <a:off x="8258566" y="3593219"/>
            <a:ext cx="2854550" cy="365730"/>
          </a:xfrm>
          <a:prstGeom prst="roundRect">
            <a:avLst>
              <a:gd name="adj" fmla="val 20835"/>
            </a:avLst>
          </a:prstGeom>
          <a:solidFill>
            <a:srgbClr val="F3EBD3"/>
          </a:solidFill>
          <a:ln/>
        </p:spPr>
        <p:txBody>
          <a:bodyPr wrap="square" lIns="104682" tIns="53882" rIns="26665" bIns="28482" rtlCol="0" anchor="t">
            <a:normAutofit/>
          </a:bodyPr>
          <a:lstStyle/>
          <a:p>
            <a:pPr algn="l" indent="0" marL="0">
              <a:lnSpc>
                <a:spcPts val="1680"/>
              </a:lnSpc>
              <a:buNone/>
            </a:pPr>
            <a:r>
              <a:rPr lang="en-US" sz="1200" b="1" dirty="0">
                <a:solidFill>
                  <a:srgbClr val="7A5C12"/>
                </a:solidFill>
                <a:latin typeface="DM Sans" pitchFamily="34" charset="0"/>
                <a:ea typeface="DM Sans" pitchFamily="34" charset="-122"/>
                <a:cs typeface="DM Sans" pitchFamily="34" charset="-120"/>
              </a:rPr>
              <a:t>Instant rollback</a:t>
            </a:r>
            <a:endParaRPr lang="en-US" sz="1200" dirty="0"/>
          </a:p>
        </p:txBody>
      </p:sp>
      <p:sp>
        <p:nvSpPr>
          <p:cNvPr id="16" name="Text 14"/>
          <p:cNvSpPr/>
          <p:nvPr/>
        </p:nvSpPr>
        <p:spPr>
          <a:xfrm>
            <a:off x="812788" y="6238280"/>
            <a:ext cx="6540485"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65C"/>
                </a:solidFill>
                <a:latin typeface="DM Sans" pitchFamily="34" charset="0"/>
                <a:ea typeface="DM Sans" pitchFamily="34" charset="-122"/>
                <a:cs typeface="DM Sans" pitchFamily="34" charset="-120"/>
              </a:rPr>
              <a:t>5350 Applied Deep Learning · MLOps</a:t>
            </a:r>
            <a:endParaRPr lang="en-US" sz="1200" dirty="0"/>
          </a:p>
        </p:txBody>
      </p:sp>
      <p:sp>
        <p:nvSpPr>
          <p:cNvPr id="17" name="Text 15"/>
          <p:cNvSpPr/>
          <p:nvPr/>
        </p:nvSpPr>
        <p:spPr>
          <a:xfrm>
            <a:off x="10058381" y="6238280"/>
            <a:ext cx="1320797"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65C"/>
                </a:solidFill>
                <a:latin typeface="DM Sans" pitchFamily="34" charset="0"/>
                <a:ea typeface="DM Sans" pitchFamily="34" charset="-122"/>
                <a:cs typeface="DM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A5C12"/>
                </a:solidFill>
                <a:latin typeface="DM Sans" pitchFamily="34" charset="0"/>
                <a:ea typeface="DM Sans" pitchFamily="34" charset="-122"/>
                <a:cs typeface="DM Sans" pitchFamily="34" charset="-120"/>
              </a:rPr>
              <a:t>MONITORING</a:t>
            </a:r>
            <a:endParaRPr lang="en-US" sz="1200" dirty="0"/>
          </a:p>
        </p:txBody>
      </p:sp>
      <p:sp>
        <p:nvSpPr>
          <p:cNvPr id="3" name="Text 1"/>
          <p:cNvSpPr/>
          <p:nvPr>
            <p:ph type="title"/>
          </p:nvPr>
        </p:nvSpPr>
        <p:spPr>
          <a:xfrm>
            <a:off x="812788" y="1127720"/>
            <a:ext cx="10883382" cy="528312"/>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1B18"/>
                </a:solidFill>
                <a:latin typeface="DM Sans" pitchFamily="34" charset="0"/>
                <a:ea typeface="DM Sans" pitchFamily="34" charset="-122"/>
                <a:cs typeface="DM Sans" pitchFamily="34" charset="-120"/>
              </a:rPr>
              <a:t>Models get stale: watch for drift</a:t>
            </a:r>
            <a:endParaRPr lang="en-US" sz="3600" dirty="0"/>
          </a:p>
        </p:txBody>
      </p:sp>
      <p:sp>
        <p:nvSpPr>
          <p:cNvPr id="4" name="Shape 2"/>
          <p:cNvSpPr/>
          <p:nvPr/>
        </p:nvSpPr>
        <p:spPr>
          <a:xfrm>
            <a:off x="819138" y="1941761"/>
            <a:ext cx="5168882" cy="1525132"/>
          </a:xfrm>
          <a:prstGeom prst="roundRect">
            <a:avLst>
              <a:gd name="adj" fmla="val 7911"/>
            </a:avLst>
          </a:prstGeom>
          <a:solidFill>
            <a:srgbClr val="FFFDF8"/>
          </a:solidFill>
          <a:ln w="12700">
            <a:solidFill>
              <a:srgbClr val="E2DCCB"/>
            </a:solidFill>
            <a:prstDash val="solid"/>
          </a:ln>
        </p:spPr>
      </p:sp>
      <p:pic>
        <p:nvPicPr>
          <p:cNvPr id="5" name="Image 0" descr="Activity">    </p:cNvPr>
          <p:cNvPicPr>
            <a:picLocks noChangeAspect="1"/>
          </p:cNvPicPr>
          <p:nvPr/>
        </p:nvPicPr>
        <p:blipFill>
          <a:blip r:embed="rId1"/>
          <a:srcRect l="0" r="0" t="0" b="0"/>
          <a:stretch/>
        </p:blipFill>
        <p:spPr>
          <a:xfrm>
            <a:off x="1078848" y="2216683"/>
            <a:ext cx="304781" cy="304781"/>
          </a:xfrm>
          <a:prstGeom prst="rect">
            <a:avLst/>
          </a:prstGeom>
        </p:spPr>
      </p:pic>
      <p:sp>
        <p:nvSpPr>
          <p:cNvPr id="6" name="Text 3"/>
          <p:cNvSpPr/>
          <p:nvPr/>
        </p:nvSpPr>
        <p:spPr>
          <a:xfrm>
            <a:off x="1510622" y="2201472"/>
            <a:ext cx="1570099" cy="36063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D1B18"/>
                </a:solidFill>
                <a:latin typeface="DM Sans" pitchFamily="34" charset="0"/>
                <a:ea typeface="DM Sans" pitchFamily="34" charset="-122"/>
                <a:cs typeface="DM Sans" pitchFamily="34" charset="-120"/>
              </a:rPr>
              <a:t>Data drift</a:t>
            </a:r>
            <a:endParaRPr lang="en-US" sz="2200" dirty="0"/>
          </a:p>
        </p:txBody>
      </p:sp>
      <p:sp>
        <p:nvSpPr>
          <p:cNvPr id="7" name="Text 4"/>
          <p:cNvSpPr/>
          <p:nvPr/>
        </p:nvSpPr>
        <p:spPr>
          <a:xfrm>
            <a:off x="1078848" y="2638301"/>
            <a:ext cx="4788945" cy="5942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63E"/>
                </a:solidFill>
                <a:latin typeface="DM Sans" pitchFamily="34" charset="0"/>
                <a:ea typeface="DM Sans" pitchFamily="34" charset="-122"/>
                <a:cs typeface="DM Sans" pitchFamily="34" charset="-120"/>
              </a:rPr>
              <a:t>The inputs change. Example: spammers start sending shorter messages.</a:t>
            </a:r>
            <a:endParaRPr lang="en-US" sz="1600" dirty="0"/>
          </a:p>
        </p:txBody>
      </p:sp>
      <p:sp>
        <p:nvSpPr>
          <p:cNvPr id="8" name="Shape 5"/>
          <p:cNvSpPr/>
          <p:nvPr/>
        </p:nvSpPr>
        <p:spPr>
          <a:xfrm>
            <a:off x="6203907" y="1941761"/>
            <a:ext cx="5168920" cy="1525132"/>
          </a:xfrm>
          <a:prstGeom prst="roundRect">
            <a:avLst>
              <a:gd name="adj" fmla="val 7911"/>
            </a:avLst>
          </a:prstGeom>
          <a:solidFill>
            <a:srgbClr val="FFFDF8"/>
          </a:solidFill>
          <a:ln w="12700">
            <a:solidFill>
              <a:srgbClr val="E2DCCB"/>
            </a:solidFill>
            <a:prstDash val="solid"/>
          </a:ln>
        </p:spPr>
      </p:sp>
      <p:pic>
        <p:nvPicPr>
          <p:cNvPr id="9" name="Image 1" descr="Warning">    </p:cNvPr>
          <p:cNvPicPr>
            <a:picLocks noChangeAspect="1"/>
          </p:cNvPicPr>
          <p:nvPr/>
        </p:nvPicPr>
        <p:blipFill>
          <a:blip r:embed="rId2"/>
          <a:srcRect l="0" r="0" t="0" b="0"/>
          <a:stretch/>
        </p:blipFill>
        <p:spPr>
          <a:xfrm>
            <a:off x="6463618" y="2216683"/>
            <a:ext cx="304781" cy="304781"/>
          </a:xfrm>
          <a:prstGeom prst="rect">
            <a:avLst/>
          </a:prstGeom>
        </p:spPr>
      </p:pic>
      <p:sp>
        <p:nvSpPr>
          <p:cNvPr id="10" name="Text 6"/>
          <p:cNvSpPr/>
          <p:nvPr/>
        </p:nvSpPr>
        <p:spPr>
          <a:xfrm>
            <a:off x="6895392" y="2201472"/>
            <a:ext cx="2218970" cy="36063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D1B18"/>
                </a:solidFill>
                <a:latin typeface="DM Sans" pitchFamily="34" charset="0"/>
                <a:ea typeface="DM Sans" pitchFamily="34" charset="-122"/>
                <a:cs typeface="DM Sans" pitchFamily="34" charset="-120"/>
              </a:rPr>
              <a:t>Concept drift</a:t>
            </a:r>
            <a:endParaRPr lang="en-US" sz="2200" dirty="0"/>
          </a:p>
        </p:txBody>
      </p:sp>
      <p:sp>
        <p:nvSpPr>
          <p:cNvPr id="11" name="Text 7"/>
          <p:cNvSpPr/>
          <p:nvPr/>
        </p:nvSpPr>
        <p:spPr>
          <a:xfrm>
            <a:off x="6463618" y="2638301"/>
            <a:ext cx="4788983" cy="5942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63E"/>
                </a:solidFill>
                <a:latin typeface="DM Sans" pitchFamily="34" charset="0"/>
                <a:ea typeface="DM Sans" pitchFamily="34" charset="-122"/>
                <a:cs typeface="DM Sans" pitchFamily="34" charset="-120"/>
              </a:rPr>
              <a:t>What counts as spam changes, so accuracy slowly drops.</a:t>
            </a:r>
            <a:endParaRPr lang="en-US" sz="1600" dirty="0"/>
          </a:p>
        </p:txBody>
      </p:sp>
      <p:sp>
        <p:nvSpPr>
          <p:cNvPr id="12" name="Shape 8"/>
          <p:cNvSpPr/>
          <p:nvPr/>
        </p:nvSpPr>
        <p:spPr>
          <a:xfrm>
            <a:off x="812788" y="3778027"/>
            <a:ext cx="10566390" cy="1081943"/>
          </a:xfrm>
          <a:prstGeom prst="roundRect">
            <a:avLst>
              <a:gd name="adj" fmla="val 11738"/>
            </a:avLst>
          </a:prstGeom>
          <a:solidFill>
            <a:srgbClr val="1D1B18"/>
          </a:solidFill>
          <a:ln/>
        </p:spPr>
      </p:sp>
      <p:sp>
        <p:nvSpPr>
          <p:cNvPr id="13" name="Text 9"/>
          <p:cNvSpPr/>
          <p:nvPr/>
        </p:nvSpPr>
        <p:spPr>
          <a:xfrm>
            <a:off x="1117569" y="4032008"/>
            <a:ext cx="10255532" cy="30984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CFB87C"/>
                </a:solidFill>
                <a:latin typeface="DM Sans" pitchFamily="34" charset="0"/>
                <a:ea typeface="DM Sans" pitchFamily="34" charset="-122"/>
                <a:cs typeface="DM Sans" pitchFamily="34" charset="-120"/>
              </a:rPr>
              <a:t>Close the loop:</a:t>
            </a:r>
            <a:r>
              <a:rPr lang="en-US" sz="1600" dirty="0">
                <a:solidFill>
                  <a:srgbClr val="F7F5EF"/>
                </a:solidFill>
                <a:latin typeface="DM Sans" pitchFamily="34" charset="0"/>
                <a:ea typeface="DM Sans" pitchFamily="34" charset="-122"/>
                <a:cs typeface="DM Sans" pitchFamily="34" charset="-120"/>
              </a:rPr>
              <a:t> drift crosses a threshold → alert → retrain → gate → redeploy.</a:t>
            </a:r>
            <a:endParaRPr lang="en-US" sz="1600" dirty="0"/>
          </a:p>
        </p:txBody>
      </p:sp>
      <p:sp>
        <p:nvSpPr>
          <p:cNvPr id="14" name="Text 10"/>
          <p:cNvSpPr/>
          <p:nvPr/>
        </p:nvSpPr>
        <p:spPr>
          <a:xfrm>
            <a:off x="1117569" y="4392644"/>
            <a:ext cx="10255532"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8B8"/>
                </a:solidFill>
                <a:latin typeface="DM Sans" pitchFamily="34" charset="0"/>
                <a:ea typeface="DM Sans" pitchFamily="34" charset="-122"/>
                <a:cs typeface="DM Sans" pitchFamily="34" charset="-120"/>
              </a:rPr>
              <a:t>Helpful tools: DVC to version data, SHAP or LIME to explain predictions.</a:t>
            </a:r>
            <a:endParaRPr lang="en-US" sz="1200" dirty="0"/>
          </a:p>
        </p:txBody>
      </p:sp>
      <p:sp>
        <p:nvSpPr>
          <p:cNvPr id="15" name="Text 11"/>
          <p:cNvSpPr/>
          <p:nvPr/>
        </p:nvSpPr>
        <p:spPr>
          <a:xfrm>
            <a:off x="812788" y="6238280"/>
            <a:ext cx="6540485"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65C"/>
                </a:solidFill>
                <a:latin typeface="DM Sans" pitchFamily="34" charset="0"/>
                <a:ea typeface="DM Sans" pitchFamily="34" charset="-122"/>
                <a:cs typeface="DM Sans" pitchFamily="34" charset="-120"/>
              </a:rPr>
              <a:t>5350 Applied Deep Learning · MLOps</a:t>
            </a:r>
            <a:endParaRPr lang="en-US" sz="1200" dirty="0"/>
          </a:p>
        </p:txBody>
      </p:sp>
      <p:sp>
        <p:nvSpPr>
          <p:cNvPr id="16" name="Text 12"/>
          <p:cNvSpPr/>
          <p:nvPr/>
        </p:nvSpPr>
        <p:spPr>
          <a:xfrm>
            <a:off x="10058381" y="6238280"/>
            <a:ext cx="1320797"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65C"/>
                </a:solidFill>
                <a:latin typeface="DM Sans" pitchFamily="34" charset="0"/>
                <a:ea typeface="DM Sans" pitchFamily="34" charset="-122"/>
                <a:cs typeface="DM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D1B18"/>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FB87C"/>
                </a:solidFill>
                <a:latin typeface="DM Sans" pitchFamily="34" charset="0"/>
                <a:ea typeface="DM Sans" pitchFamily="34" charset="-122"/>
                <a:cs typeface="DM Sans" pitchFamily="34" charset="-120"/>
              </a:rPr>
              <a:t>WRAP-UP</a:t>
            </a:r>
            <a:endParaRPr lang="en-US" sz="1200" dirty="0"/>
          </a:p>
        </p:txBody>
      </p:sp>
      <p:sp>
        <p:nvSpPr>
          <p:cNvPr id="3" name="Text 1"/>
          <p:cNvSpPr/>
          <p:nvPr>
            <p:ph type="title"/>
          </p:nvPr>
        </p:nvSpPr>
        <p:spPr>
          <a:xfrm>
            <a:off x="812788" y="1127720"/>
            <a:ext cx="10883382" cy="528312"/>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7F5EF"/>
                </a:solidFill>
                <a:latin typeface="DM Sans" pitchFamily="34" charset="0"/>
                <a:ea typeface="DM Sans" pitchFamily="34" charset="-122"/>
                <a:cs typeface="DM Sans" pitchFamily="34" charset="-120"/>
              </a:rPr>
              <a:t>Four things to remember</a:t>
            </a:r>
            <a:endParaRPr lang="en-US" sz="3600" dirty="0"/>
          </a:p>
        </p:txBody>
      </p:sp>
      <p:sp>
        <p:nvSpPr>
          <p:cNvPr id="4" name="Text 2"/>
          <p:cNvSpPr/>
          <p:nvPr/>
        </p:nvSpPr>
        <p:spPr>
          <a:xfrm>
            <a:off x="812788" y="1935411"/>
            <a:ext cx="457175" cy="416528"/>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FB87C"/>
                </a:solidFill>
                <a:latin typeface="DM Sans" pitchFamily="34" charset="0"/>
                <a:ea typeface="DM Sans" pitchFamily="34" charset="-122"/>
                <a:cs typeface="DM Sans" pitchFamily="34" charset="-120"/>
              </a:rPr>
              <a:t>1</a:t>
            </a:r>
            <a:endParaRPr lang="en-US" sz="2200" dirty="0"/>
          </a:p>
        </p:txBody>
      </p:sp>
      <p:sp>
        <p:nvSpPr>
          <p:cNvPr id="5" name="Text 3"/>
          <p:cNvSpPr/>
          <p:nvPr/>
        </p:nvSpPr>
        <p:spPr>
          <a:xfrm>
            <a:off x="1422350" y="2015114"/>
            <a:ext cx="10255532" cy="309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5EF"/>
                </a:solidFill>
                <a:latin typeface="DM Sans" pitchFamily="34" charset="0"/>
                <a:ea typeface="DM Sans" pitchFamily="34" charset="-122"/>
                <a:cs typeface="DM Sans" pitchFamily="34" charset="-120"/>
              </a:rPr>
              <a:t>A model only creates value once it is deployed and maintained.</a:t>
            </a:r>
            <a:endParaRPr lang="en-US" sz="1600" dirty="0"/>
          </a:p>
        </p:txBody>
      </p:sp>
      <p:sp>
        <p:nvSpPr>
          <p:cNvPr id="6" name="Text 4"/>
          <p:cNvSpPr/>
          <p:nvPr/>
        </p:nvSpPr>
        <p:spPr>
          <a:xfrm>
            <a:off x="812788" y="2478931"/>
            <a:ext cx="457175" cy="416528"/>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FB87C"/>
                </a:solidFill>
                <a:latin typeface="DM Sans" pitchFamily="34" charset="0"/>
                <a:ea typeface="DM Sans" pitchFamily="34" charset="-122"/>
                <a:cs typeface="DM Sans" pitchFamily="34" charset="-120"/>
              </a:rPr>
              <a:t>2</a:t>
            </a:r>
            <a:endParaRPr lang="en-US" sz="2200" dirty="0"/>
          </a:p>
        </p:txBody>
      </p:sp>
      <p:sp>
        <p:nvSpPr>
          <p:cNvPr id="7" name="Text 5"/>
          <p:cNvSpPr/>
          <p:nvPr/>
        </p:nvSpPr>
        <p:spPr>
          <a:xfrm>
            <a:off x="1422350" y="2558635"/>
            <a:ext cx="10255532" cy="309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5EF"/>
                </a:solidFill>
                <a:latin typeface="DM Sans" pitchFamily="34" charset="0"/>
                <a:ea typeface="DM Sans" pitchFamily="34" charset="-122"/>
                <a:cs typeface="DM Sans" pitchFamily="34" charset="-120"/>
              </a:rPr>
              <a:t>Version everything: code, data and models.</a:t>
            </a:r>
            <a:endParaRPr lang="en-US" sz="1600" dirty="0"/>
          </a:p>
        </p:txBody>
      </p:sp>
      <p:sp>
        <p:nvSpPr>
          <p:cNvPr id="8" name="Text 6"/>
          <p:cNvSpPr/>
          <p:nvPr/>
        </p:nvSpPr>
        <p:spPr>
          <a:xfrm>
            <a:off x="812788" y="3022451"/>
            <a:ext cx="457175" cy="416528"/>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FB87C"/>
                </a:solidFill>
                <a:latin typeface="DM Sans" pitchFamily="34" charset="0"/>
                <a:ea typeface="DM Sans" pitchFamily="34" charset="-122"/>
                <a:cs typeface="DM Sans" pitchFamily="34" charset="-120"/>
              </a:rPr>
              <a:t>3</a:t>
            </a:r>
            <a:endParaRPr lang="en-US" sz="2200" dirty="0"/>
          </a:p>
        </p:txBody>
      </p:sp>
      <p:sp>
        <p:nvSpPr>
          <p:cNvPr id="9" name="Text 7"/>
          <p:cNvSpPr/>
          <p:nvPr/>
        </p:nvSpPr>
        <p:spPr>
          <a:xfrm>
            <a:off x="1422350" y="3102155"/>
            <a:ext cx="10255532" cy="309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5EF"/>
                </a:solidFill>
                <a:latin typeface="DM Sans" pitchFamily="34" charset="0"/>
                <a:ea typeface="DM Sans" pitchFamily="34" charset="-122"/>
                <a:cs typeface="DM Sans" pitchFamily="34" charset="-120"/>
              </a:rPr>
              <a:t>Package it (Docker), serve it (API) and automate the pipeline.</a:t>
            </a:r>
            <a:endParaRPr lang="en-US" sz="1600" dirty="0"/>
          </a:p>
        </p:txBody>
      </p:sp>
      <p:sp>
        <p:nvSpPr>
          <p:cNvPr id="10" name="Text 8"/>
          <p:cNvSpPr/>
          <p:nvPr/>
        </p:nvSpPr>
        <p:spPr>
          <a:xfrm>
            <a:off x="812788" y="3565965"/>
            <a:ext cx="457175" cy="416528"/>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FB87C"/>
                </a:solidFill>
                <a:latin typeface="DM Sans" pitchFamily="34" charset="0"/>
                <a:ea typeface="DM Sans" pitchFamily="34" charset="-122"/>
                <a:cs typeface="DM Sans" pitchFamily="34" charset="-120"/>
              </a:rPr>
              <a:t>4</a:t>
            </a:r>
            <a:endParaRPr lang="en-US" sz="2200" dirty="0"/>
          </a:p>
        </p:txBody>
      </p:sp>
      <p:sp>
        <p:nvSpPr>
          <p:cNvPr id="11" name="Text 9"/>
          <p:cNvSpPr/>
          <p:nvPr/>
        </p:nvSpPr>
        <p:spPr>
          <a:xfrm>
            <a:off x="1422350" y="3645675"/>
            <a:ext cx="10255532" cy="309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5EF"/>
                </a:solidFill>
                <a:latin typeface="DM Sans" pitchFamily="34" charset="0"/>
                <a:ea typeface="DM Sans" pitchFamily="34" charset="-122"/>
                <a:cs typeface="DM Sans" pitchFamily="34" charset="-120"/>
              </a:rPr>
              <a:t>Measure the right metric, monitor for drift and retrain.</a:t>
            </a:r>
            <a:endParaRPr lang="en-US" sz="1600" dirty="0"/>
          </a:p>
        </p:txBody>
      </p:sp>
      <p:sp>
        <p:nvSpPr>
          <p:cNvPr id="12" name="Shape 10"/>
          <p:cNvSpPr/>
          <p:nvPr/>
        </p:nvSpPr>
        <p:spPr>
          <a:xfrm>
            <a:off x="812788" y="4261879"/>
            <a:ext cx="10566390" cy="975255"/>
          </a:xfrm>
          <a:prstGeom prst="roundRect">
            <a:avLst>
              <a:gd name="adj" fmla="val 13022"/>
            </a:avLst>
          </a:prstGeom>
          <a:solidFill>
            <a:srgbClr val="CFB87C"/>
          </a:solidFill>
          <a:ln/>
        </p:spPr>
      </p:sp>
      <p:pic>
        <p:nvPicPr>
          <p:cNvPr id="13" name="Image 0" descr="GraduationCap">    </p:cNvPr>
          <p:cNvPicPr>
            <a:picLocks noChangeAspect="1"/>
          </p:cNvPicPr>
          <p:nvPr/>
        </p:nvPicPr>
        <p:blipFill>
          <a:blip r:embed="rId1"/>
          <a:srcRect l="0" r="0" t="0" b="0"/>
          <a:stretch/>
        </p:blipFill>
        <p:spPr>
          <a:xfrm>
            <a:off x="1066772" y="4571715"/>
            <a:ext cx="355578" cy="355578"/>
          </a:xfrm>
          <a:prstGeom prst="rect">
            <a:avLst/>
          </a:prstGeom>
        </p:spPr>
      </p:pic>
      <p:sp>
        <p:nvSpPr>
          <p:cNvPr id="14" name="Text 11"/>
          <p:cNvSpPr/>
          <p:nvPr/>
        </p:nvSpPr>
        <p:spPr>
          <a:xfrm>
            <a:off x="1574741" y="4465067"/>
            <a:ext cx="9836966" cy="5942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D1B18"/>
                </a:solidFill>
                <a:latin typeface="DM Sans" pitchFamily="34" charset="0"/>
                <a:ea typeface="DM Sans" pitchFamily="34" charset="-122"/>
                <a:cs typeface="DM Sans" pitchFamily="34" charset="-120"/>
              </a:rPr>
              <a:t>This week’s lab:</a:t>
            </a:r>
            <a:r>
              <a:rPr lang="en-US" sz="1600" dirty="0">
                <a:solidFill>
                  <a:srgbClr val="1D1B18"/>
                </a:solidFill>
                <a:latin typeface="DM Sans" pitchFamily="34" charset="0"/>
                <a:ea typeface="DM Sans" pitchFamily="34" charset="-122"/>
                <a:cs typeface="DM Sans" pitchFamily="34" charset="-120"/>
              </a:rPr>
              <a:t> train_model.ipynb, then mlops_basics.ipynb (new to data science) or mlops_pipeline.ipynb. Stretch: run the app in Docker.</a:t>
            </a:r>
            <a:endParaRPr lang="en-US" sz="1600" dirty="0"/>
          </a:p>
        </p:txBody>
      </p:sp>
      <p:sp>
        <p:nvSpPr>
          <p:cNvPr id="15" name="Text 12"/>
          <p:cNvSpPr/>
          <p:nvPr/>
        </p:nvSpPr>
        <p:spPr>
          <a:xfrm>
            <a:off x="812788" y="6238273"/>
            <a:ext cx="6540485"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8B8"/>
                </a:solidFill>
                <a:latin typeface="DM Sans" pitchFamily="34" charset="0"/>
                <a:ea typeface="DM Sans" pitchFamily="34" charset="-122"/>
                <a:cs typeface="DM Sans" pitchFamily="34" charset="-120"/>
              </a:rPr>
              <a:t>5350 Applied Deep Learning · MLOps</a:t>
            </a:r>
            <a:endParaRPr lang="en-US" sz="1200" dirty="0"/>
          </a:p>
        </p:txBody>
      </p:sp>
      <p:sp>
        <p:nvSpPr>
          <p:cNvPr id="16" name="Text 13"/>
          <p:cNvSpPr/>
          <p:nvPr/>
        </p:nvSpPr>
        <p:spPr>
          <a:xfrm>
            <a:off x="10058381" y="6238273"/>
            <a:ext cx="1320797"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FC8B8"/>
                </a:solidFill>
                <a:latin typeface="DM Sans" pitchFamily="34" charset="0"/>
                <a:ea typeface="DM Sans" pitchFamily="34" charset="-122"/>
                <a:cs typeface="DM Sans" pitchFamily="34" charset="-120"/>
              </a:rPr>
              <a:t>17</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A5C12"/>
                </a:solidFill>
                <a:latin typeface="DM Sans" pitchFamily="34" charset="0"/>
                <a:ea typeface="DM Sans" pitchFamily="34" charset="-122"/>
                <a:cs typeface="DM Sans" pitchFamily="34" charset="-120"/>
              </a:rPr>
              <a:t>MEASURE THE RIGHT THING</a:t>
            </a:r>
            <a:endParaRPr lang="en-US" sz="1200" dirty="0"/>
          </a:p>
        </p:txBody>
      </p:sp>
      <p:sp>
        <p:nvSpPr>
          <p:cNvPr id="3" name="Text 1"/>
          <p:cNvSpPr/>
          <p:nvPr>
            <p:ph type="title"/>
          </p:nvPr>
        </p:nvSpPr>
        <p:spPr>
          <a:xfrm>
            <a:off x="812788" y="1127720"/>
            <a:ext cx="10883382" cy="528312"/>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1B18"/>
                </a:solidFill>
                <a:latin typeface="DM Sans" pitchFamily="34" charset="0"/>
                <a:ea typeface="DM Sans" pitchFamily="34" charset="-122"/>
                <a:cs typeface="DM Sans" pitchFamily="34" charset="-120"/>
              </a:rPr>
              <a:t>Accuracy, precision, recall and F1</a:t>
            </a:r>
            <a:endParaRPr lang="en-US" sz="3600" dirty="0"/>
          </a:p>
        </p:txBody>
      </p:sp>
      <p:sp>
        <p:nvSpPr>
          <p:cNvPr id="4" name="Shape 2"/>
          <p:cNvSpPr/>
          <p:nvPr/>
        </p:nvSpPr>
        <p:spPr>
          <a:xfrm>
            <a:off x="819138" y="1941764"/>
            <a:ext cx="5168882" cy="2393811"/>
          </a:xfrm>
          <a:prstGeom prst="roundRect">
            <a:avLst>
              <a:gd name="adj" fmla="val 5040"/>
            </a:avLst>
          </a:prstGeom>
          <a:solidFill>
            <a:srgbClr val="FFFDF8"/>
          </a:solidFill>
          <a:ln w="12700">
            <a:solidFill>
              <a:srgbClr val="E2DCCB"/>
            </a:solidFill>
            <a:prstDash val="solid"/>
          </a:ln>
        </p:spPr>
      </p:sp>
      <p:sp>
        <p:nvSpPr>
          <p:cNvPr id="5" name="Text 3"/>
          <p:cNvSpPr/>
          <p:nvPr/>
        </p:nvSpPr>
        <p:spPr>
          <a:xfrm>
            <a:off x="1078848" y="2201475"/>
            <a:ext cx="4788945" cy="36063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D1B18"/>
                </a:solidFill>
                <a:latin typeface="DM Sans" pitchFamily="34" charset="0"/>
                <a:ea typeface="DM Sans" pitchFamily="34" charset="-122"/>
                <a:cs typeface="DM Sans" pitchFamily="34" charset="-120"/>
              </a:rPr>
              <a:t>Precision vs recall</a:t>
            </a:r>
            <a:endParaRPr lang="en-US" sz="2200" dirty="0"/>
          </a:p>
        </p:txBody>
      </p:sp>
      <p:sp>
        <p:nvSpPr>
          <p:cNvPr id="6" name="Text 4"/>
          <p:cNvSpPr/>
          <p:nvPr/>
        </p:nvSpPr>
        <p:spPr>
          <a:xfrm>
            <a:off x="1078848" y="2638304"/>
            <a:ext cx="4788945"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63E"/>
                </a:solidFill>
                <a:latin typeface="DM Sans" pitchFamily="34" charset="0"/>
                <a:ea typeface="DM Sans" pitchFamily="34" charset="-122"/>
                <a:cs typeface="DM Sans" pitchFamily="34" charset="-120"/>
              </a:rPr>
              <a:t>10 messages, 4 spam: TP 3, FP 2, FN 1, TN 4</a:t>
            </a:r>
            <a:endParaRPr lang="en-US" sz="1200" dirty="0"/>
          </a:p>
        </p:txBody>
      </p:sp>
      <p:sp>
        <p:nvSpPr>
          <p:cNvPr id="7" name="Text 5"/>
          <p:cNvSpPr/>
          <p:nvPr/>
        </p:nvSpPr>
        <p:spPr>
          <a:xfrm>
            <a:off x="1078848" y="2953237"/>
            <a:ext cx="2315991" cy="695949"/>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1D1B18"/>
                </a:solidFill>
                <a:latin typeface="DM Sans" pitchFamily="34" charset="0"/>
                <a:ea typeface="DM Sans" pitchFamily="34" charset="-122"/>
                <a:cs typeface="DM Sans" pitchFamily="34" charset="-120"/>
              </a:rPr>
              <a:t>60%</a:t>
            </a:r>
            <a:endParaRPr lang="en-US" sz="4800" dirty="0"/>
          </a:p>
        </p:txBody>
      </p:sp>
      <p:sp>
        <p:nvSpPr>
          <p:cNvPr id="8" name="Text 6"/>
          <p:cNvSpPr/>
          <p:nvPr/>
        </p:nvSpPr>
        <p:spPr>
          <a:xfrm>
            <a:off x="1078848" y="3649185"/>
            <a:ext cx="2315991"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63E"/>
                </a:solidFill>
                <a:latin typeface="DM Sans" pitchFamily="34" charset="0"/>
                <a:ea typeface="DM Sans" pitchFamily="34" charset="-122"/>
                <a:cs typeface="DM Sans" pitchFamily="34" charset="-120"/>
              </a:rPr>
              <a:t>precision: 3 of 5 flags right</a:t>
            </a:r>
            <a:endParaRPr lang="en-US" sz="1200" dirty="0"/>
          </a:p>
        </p:txBody>
      </p:sp>
      <p:sp>
        <p:nvSpPr>
          <p:cNvPr id="9" name="Text 7"/>
          <p:cNvSpPr/>
          <p:nvPr/>
        </p:nvSpPr>
        <p:spPr>
          <a:xfrm>
            <a:off x="3479774" y="2953237"/>
            <a:ext cx="2315991" cy="695949"/>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1D1B18"/>
                </a:solidFill>
                <a:latin typeface="DM Sans" pitchFamily="34" charset="0"/>
                <a:ea typeface="DM Sans" pitchFamily="34" charset="-122"/>
                <a:cs typeface="DM Sans" pitchFamily="34" charset="-120"/>
              </a:rPr>
              <a:t>75%</a:t>
            </a:r>
            <a:endParaRPr lang="en-US" sz="4800" dirty="0"/>
          </a:p>
        </p:txBody>
      </p:sp>
      <p:sp>
        <p:nvSpPr>
          <p:cNvPr id="10" name="Text 8"/>
          <p:cNvSpPr/>
          <p:nvPr/>
        </p:nvSpPr>
        <p:spPr>
          <a:xfrm>
            <a:off x="3479774" y="3649185"/>
            <a:ext cx="2315991"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63E"/>
                </a:solidFill>
                <a:latin typeface="DM Sans" pitchFamily="34" charset="0"/>
                <a:ea typeface="DM Sans" pitchFamily="34" charset="-122"/>
                <a:cs typeface="DM Sans" pitchFamily="34" charset="-120"/>
              </a:rPr>
              <a:t>recall: 3 of 4 spam caught</a:t>
            </a:r>
            <a:endParaRPr lang="en-US" sz="1200" dirty="0"/>
          </a:p>
        </p:txBody>
      </p:sp>
      <p:sp>
        <p:nvSpPr>
          <p:cNvPr id="11" name="Shape 9"/>
          <p:cNvSpPr/>
          <p:nvPr/>
        </p:nvSpPr>
        <p:spPr>
          <a:xfrm>
            <a:off x="6203907" y="1941764"/>
            <a:ext cx="5168920" cy="2393811"/>
          </a:xfrm>
          <a:prstGeom prst="roundRect">
            <a:avLst>
              <a:gd name="adj" fmla="val 5040"/>
            </a:avLst>
          </a:prstGeom>
          <a:solidFill>
            <a:srgbClr val="FFFDF8"/>
          </a:solidFill>
          <a:ln w="12700">
            <a:solidFill>
              <a:srgbClr val="CFB87C"/>
            </a:solidFill>
            <a:prstDash val="solid"/>
          </a:ln>
        </p:spPr>
      </p:sp>
      <p:sp>
        <p:nvSpPr>
          <p:cNvPr id="12" name="Text 10"/>
          <p:cNvSpPr/>
          <p:nvPr/>
        </p:nvSpPr>
        <p:spPr>
          <a:xfrm>
            <a:off x="6463618" y="2201475"/>
            <a:ext cx="4788983" cy="36063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D1B18"/>
                </a:solidFill>
                <a:latin typeface="DM Sans" pitchFamily="34" charset="0"/>
                <a:ea typeface="DM Sans" pitchFamily="34" charset="-122"/>
                <a:cs typeface="DM Sans" pitchFamily="34" charset="-120"/>
              </a:rPr>
              <a:t>Accuracy vs F1</a:t>
            </a:r>
            <a:endParaRPr lang="en-US" sz="2200" dirty="0"/>
          </a:p>
        </p:txBody>
      </p:sp>
      <p:sp>
        <p:nvSpPr>
          <p:cNvPr id="13" name="Text 11"/>
          <p:cNvSpPr/>
          <p:nvPr/>
        </p:nvSpPr>
        <p:spPr>
          <a:xfrm>
            <a:off x="6463618" y="2638304"/>
            <a:ext cx="4788983"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63E"/>
                </a:solidFill>
                <a:latin typeface="DM Sans" pitchFamily="34" charset="0"/>
                <a:ea typeface="DM Sans" pitchFamily="34" charset="-122"/>
                <a:cs typeface="DM Sans" pitchFamily="34" charset="-120"/>
              </a:rPr>
              <a:t>F1 is high only when both P and R are high</a:t>
            </a:r>
            <a:endParaRPr lang="en-US" sz="1200" dirty="0"/>
          </a:p>
        </p:txBody>
      </p:sp>
      <p:sp>
        <p:nvSpPr>
          <p:cNvPr id="14" name="Text 12"/>
          <p:cNvSpPr/>
          <p:nvPr/>
        </p:nvSpPr>
        <p:spPr>
          <a:xfrm>
            <a:off x="6463618" y="2953237"/>
            <a:ext cx="2315991" cy="695949"/>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1D1B18"/>
                </a:solidFill>
                <a:latin typeface="DM Sans" pitchFamily="34" charset="0"/>
                <a:ea typeface="DM Sans" pitchFamily="34" charset="-122"/>
                <a:cs typeface="DM Sans" pitchFamily="34" charset="-120"/>
              </a:rPr>
              <a:t>70%</a:t>
            </a:r>
            <a:endParaRPr lang="en-US" sz="4800" dirty="0"/>
          </a:p>
        </p:txBody>
      </p:sp>
      <p:sp>
        <p:nvSpPr>
          <p:cNvPr id="15" name="Text 13"/>
          <p:cNvSpPr/>
          <p:nvPr/>
        </p:nvSpPr>
        <p:spPr>
          <a:xfrm>
            <a:off x="6463618" y="3649185"/>
            <a:ext cx="2315991"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63E"/>
                </a:solidFill>
                <a:latin typeface="DM Sans" pitchFamily="34" charset="0"/>
                <a:ea typeface="DM Sans" pitchFamily="34" charset="-122"/>
                <a:cs typeface="DM Sans" pitchFamily="34" charset="-120"/>
              </a:rPr>
              <a:t>accuracy: 7 of 10 right</a:t>
            </a:r>
            <a:endParaRPr lang="en-US" sz="1200" dirty="0"/>
          </a:p>
        </p:txBody>
      </p:sp>
      <p:sp>
        <p:nvSpPr>
          <p:cNvPr id="16" name="Text 14"/>
          <p:cNvSpPr/>
          <p:nvPr/>
        </p:nvSpPr>
        <p:spPr>
          <a:xfrm>
            <a:off x="8864544" y="2953237"/>
            <a:ext cx="2316030" cy="695949"/>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1D1B18"/>
                </a:solidFill>
                <a:latin typeface="DM Sans" pitchFamily="34" charset="0"/>
                <a:ea typeface="DM Sans" pitchFamily="34" charset="-122"/>
                <a:cs typeface="DM Sans" pitchFamily="34" charset="-120"/>
              </a:rPr>
              <a:t>67%</a:t>
            </a:r>
            <a:endParaRPr lang="en-US" sz="4800" dirty="0"/>
          </a:p>
        </p:txBody>
      </p:sp>
      <p:sp>
        <p:nvSpPr>
          <p:cNvPr id="17" name="Text 15"/>
          <p:cNvSpPr/>
          <p:nvPr/>
        </p:nvSpPr>
        <p:spPr>
          <a:xfrm>
            <a:off x="8864544" y="3649185"/>
            <a:ext cx="2316030"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63E"/>
                </a:solidFill>
                <a:latin typeface="DM Sans" pitchFamily="34" charset="0"/>
                <a:ea typeface="DM Sans" pitchFamily="34" charset="-122"/>
                <a:cs typeface="DM Sans" pitchFamily="34" charset="-120"/>
              </a:rPr>
              <a:t>F1 = 2 × P × R / (P + R)</a:t>
            </a:r>
            <a:endParaRPr lang="en-US" sz="1200" dirty="0"/>
          </a:p>
        </p:txBody>
      </p:sp>
      <p:sp>
        <p:nvSpPr>
          <p:cNvPr id="18" name="Text 16"/>
          <p:cNvSpPr/>
          <p:nvPr/>
        </p:nvSpPr>
        <p:spPr>
          <a:xfrm>
            <a:off x="812788" y="4646706"/>
            <a:ext cx="10883382" cy="309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63E"/>
                </a:solidFill>
                <a:latin typeface="DM Sans" pitchFamily="34" charset="0"/>
                <a:ea typeface="DM Sans" pitchFamily="34" charset="-122"/>
                <a:cs typeface="DM Sans" pitchFamily="34" charset="-120"/>
              </a:rPr>
              <a:t>Lower the threshold: recall up, precision down. </a:t>
            </a:r>
            <a:r>
              <a:rPr lang="en-US" sz="1600" b="1" dirty="0">
                <a:solidFill>
                  <a:srgbClr val="1D1B18"/>
                </a:solidFill>
                <a:latin typeface="DM Sans" pitchFamily="34" charset="0"/>
                <a:ea typeface="DM Sans" pitchFamily="34" charset="-122"/>
                <a:cs typeface="DM Sans" pitchFamily="34" charset="-120"/>
              </a:rPr>
              <a:t>Choose by which mistake costs more</a:t>
            </a:r>
            <a:r>
              <a:rPr lang="en-US" sz="1600" dirty="0">
                <a:solidFill>
                  <a:srgbClr val="4A463E"/>
                </a:solidFill>
                <a:latin typeface="DM Sans" pitchFamily="34" charset="0"/>
                <a:ea typeface="DM Sans" pitchFamily="34" charset="-122"/>
                <a:cs typeface="DM Sans" pitchFamily="34" charset="-120"/>
              </a:rPr>
              <a:t>: a lost email, or a scam in the inbox.</a:t>
            </a:r>
            <a:endParaRPr lang="en-US" sz="1600" dirty="0"/>
          </a:p>
        </p:txBody>
      </p:sp>
      <p:sp>
        <p:nvSpPr>
          <p:cNvPr id="19" name="Text 17"/>
          <p:cNvSpPr/>
          <p:nvPr/>
        </p:nvSpPr>
        <p:spPr>
          <a:xfrm>
            <a:off x="812788" y="6238277"/>
            <a:ext cx="6540485"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65C"/>
                </a:solidFill>
                <a:latin typeface="DM Sans" pitchFamily="34" charset="0"/>
                <a:ea typeface="DM Sans" pitchFamily="34" charset="-122"/>
                <a:cs typeface="DM Sans" pitchFamily="34" charset="-120"/>
              </a:rPr>
              <a:t>5350 Applied Deep Learning · MLOps</a:t>
            </a:r>
            <a:endParaRPr lang="en-US" sz="1200" dirty="0"/>
          </a:p>
        </p:txBody>
      </p:sp>
      <p:sp>
        <p:nvSpPr>
          <p:cNvPr id="20" name="Text 18"/>
          <p:cNvSpPr/>
          <p:nvPr/>
        </p:nvSpPr>
        <p:spPr>
          <a:xfrm>
            <a:off x="10058381" y="6238277"/>
            <a:ext cx="1320797"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65C"/>
                </a:solidFill>
                <a:latin typeface="DM Sans" pitchFamily="34" charset="0"/>
                <a:ea typeface="DM Sans" pitchFamily="34" charset="-122"/>
                <a:cs typeface="DM Sans" pitchFamily="34" charset="-120"/>
              </a:rPr>
              <a:t>14</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A5C12"/>
                </a:solidFill>
                <a:latin typeface="DM Sans" pitchFamily="34" charset="0"/>
                <a:ea typeface="DM Sans" pitchFamily="34" charset="-122"/>
                <a:cs typeface="DM Sans" pitchFamily="34" charset="-120"/>
              </a:rPr>
              <a:t>THIS WEEK’S LAB</a:t>
            </a:r>
            <a:endParaRPr lang="en-US" sz="1200" dirty="0"/>
          </a:p>
        </p:txBody>
      </p:sp>
      <p:sp>
        <p:nvSpPr>
          <p:cNvPr id="3" name="Text 1"/>
          <p:cNvSpPr/>
          <p:nvPr>
            <p:ph type="title"/>
          </p:nvPr>
        </p:nvSpPr>
        <p:spPr>
          <a:xfrm>
            <a:off x="812788" y="1127720"/>
            <a:ext cx="10883382" cy="528312"/>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1B18"/>
                </a:solidFill>
                <a:latin typeface="DM Sans" pitchFamily="34" charset="0"/>
                <a:ea typeface="DM Sans" pitchFamily="34" charset="-122"/>
                <a:cs typeface="DM Sans" pitchFamily="34" charset="-120"/>
              </a:rPr>
              <a:t>Three notebooks, one story</a:t>
            </a:r>
            <a:endParaRPr lang="en-US" sz="3600" dirty="0"/>
          </a:p>
        </p:txBody>
      </p:sp>
      <p:sp>
        <p:nvSpPr>
          <p:cNvPr id="4" name="Shape 2"/>
          <p:cNvSpPr/>
          <p:nvPr/>
        </p:nvSpPr>
        <p:spPr>
          <a:xfrm>
            <a:off x="819138" y="1941761"/>
            <a:ext cx="3373972" cy="2581676"/>
          </a:xfrm>
          <a:prstGeom prst="roundRect">
            <a:avLst>
              <a:gd name="adj" fmla="val 4673"/>
            </a:avLst>
          </a:prstGeom>
          <a:solidFill>
            <a:srgbClr val="FFFDF8"/>
          </a:solidFill>
          <a:ln w="12700">
            <a:solidFill>
              <a:srgbClr val="E2DCCB"/>
            </a:solidFill>
            <a:prstDash val="solid"/>
          </a:ln>
        </p:spPr>
      </p:sp>
      <p:pic>
        <p:nvPicPr>
          <p:cNvPr id="5" name="Image 0" descr="Settings">    </p:cNvPr>
          <p:cNvPicPr>
            <a:picLocks noChangeAspect="1"/>
          </p:cNvPicPr>
          <p:nvPr/>
        </p:nvPicPr>
        <p:blipFill>
          <a:blip r:embed="rId1"/>
          <a:srcRect l="0" r="0" t="0" b="0"/>
          <a:stretch/>
        </p:blipFill>
        <p:spPr>
          <a:xfrm>
            <a:off x="1078848" y="2201472"/>
            <a:ext cx="355578" cy="355578"/>
          </a:xfrm>
          <a:prstGeom prst="rect">
            <a:avLst/>
          </a:prstGeom>
        </p:spPr>
      </p:pic>
      <p:sp>
        <p:nvSpPr>
          <p:cNvPr id="6" name="Text 3"/>
          <p:cNvSpPr/>
          <p:nvPr/>
        </p:nvSpPr>
        <p:spPr>
          <a:xfrm>
            <a:off x="1078848" y="2658641"/>
            <a:ext cx="2940186" cy="360637"/>
          </a:xfrm>
          <a:prstGeom prst="rect">
            <a:avLst/>
          </a:prstGeom>
          <a:noFill/>
          <a:ln/>
        </p:spPr>
        <p:txBody>
          <a:bodyPr wrap="square" lIns="0" tIns="0" rIns="0" bIns="0" rtlCol="0" anchor="t">
            <a:normAutofit/>
          </a:bodyPr>
          <a:lstStyle/>
          <a:p>
            <a:pPr algn="l" indent="0" marL="0">
              <a:lnSpc>
                <a:spcPts val="2640"/>
              </a:lnSpc>
              <a:buNone/>
            </a:pPr>
            <a:r>
              <a:rPr lang="en-US" sz="2000" b="1" dirty="0">
                <a:solidFill>
                  <a:srgbClr val="1D1B18"/>
                </a:solidFill>
                <a:latin typeface="DM Sans" pitchFamily="34" charset="0"/>
                <a:ea typeface="DM Sans" pitchFamily="34" charset="-122"/>
                <a:cs typeface="DM Sans" pitchFamily="34" charset="-120"/>
              </a:rPr>
              <a:t>train_model.ipynb</a:t>
            </a:r>
            <a:endParaRPr lang="en-US" sz="2200" dirty="0"/>
          </a:p>
        </p:txBody>
      </p:sp>
      <p:sp>
        <p:nvSpPr>
          <p:cNvPr id="7" name="Text 4"/>
          <p:cNvSpPr/>
          <p:nvPr/>
        </p:nvSpPr>
        <p:spPr>
          <a:xfrm>
            <a:off x="1078848" y="3095476"/>
            <a:ext cx="2940186" cy="5942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63E"/>
                </a:solidFill>
                <a:latin typeface="DM Sans" pitchFamily="34" charset="0"/>
                <a:ea typeface="DM Sans" pitchFamily="34" charset="-122"/>
                <a:cs typeface="DM Sans" pitchFamily="34" charset="-120"/>
              </a:rPr>
              <a:t>Train v1 and v2. Learn accuracy, precision, recall and F1.</a:t>
            </a:r>
            <a:endParaRPr lang="en-US" sz="1600" dirty="0"/>
          </a:p>
        </p:txBody>
      </p:sp>
      <p:sp>
        <p:nvSpPr>
          <p:cNvPr id="8" name="Text 5"/>
          <p:cNvSpPr/>
          <p:nvPr/>
        </p:nvSpPr>
        <p:spPr>
          <a:xfrm>
            <a:off x="1078848" y="3765947"/>
            <a:ext cx="3107911"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1B18"/>
                </a:solidFill>
                <a:latin typeface="DM Sans" pitchFamily="34" charset="0"/>
                <a:ea typeface="DM Sans" pitchFamily="34" charset="-122"/>
                <a:cs typeface="DM Sans" pitchFamily="34" charset="-120"/>
              </a:rPr>
              <a:t>Good for:</a:t>
            </a:r>
            <a:r>
              <a:rPr lang="en-US" sz="1200" dirty="0">
                <a:solidFill>
                  <a:srgbClr val="6B665C"/>
                </a:solidFill>
                <a:latin typeface="DM Sans" pitchFamily="34" charset="0"/>
                <a:ea typeface="DM Sans" pitchFamily="34" charset="-122"/>
                <a:cs typeface="DM Sans" pitchFamily="34" charset="-120"/>
              </a:rPr>
              <a:t> everyone, run it first</a:t>
            </a:r>
            <a:endParaRPr lang="en-US" sz="1200" dirty="0"/>
          </a:p>
        </p:txBody>
      </p:sp>
      <p:sp>
        <p:nvSpPr>
          <p:cNvPr id="9" name="Shape 6"/>
          <p:cNvSpPr/>
          <p:nvPr/>
        </p:nvSpPr>
        <p:spPr>
          <a:xfrm>
            <a:off x="4408997" y="1941761"/>
            <a:ext cx="3373972" cy="2581676"/>
          </a:xfrm>
          <a:prstGeom prst="roundRect">
            <a:avLst>
              <a:gd name="adj" fmla="val 4673"/>
            </a:avLst>
          </a:prstGeom>
          <a:solidFill>
            <a:srgbClr val="FFFDF8"/>
          </a:solidFill>
          <a:ln w="12700">
            <a:solidFill>
              <a:srgbClr val="E2DCCB"/>
            </a:solidFill>
            <a:prstDash val="solid"/>
          </a:ln>
        </p:spPr>
      </p:sp>
      <p:pic>
        <p:nvPicPr>
          <p:cNvPr id="10" name="Image 1" descr="Database">    </p:cNvPr>
          <p:cNvPicPr>
            <a:picLocks noChangeAspect="1"/>
          </p:cNvPicPr>
          <p:nvPr/>
        </p:nvPicPr>
        <p:blipFill>
          <a:blip r:embed="rId2"/>
          <a:srcRect l="0" r="0" t="0" b="0"/>
          <a:stretch/>
        </p:blipFill>
        <p:spPr>
          <a:xfrm>
            <a:off x="4668708" y="2201472"/>
            <a:ext cx="355578" cy="355578"/>
          </a:xfrm>
          <a:prstGeom prst="rect">
            <a:avLst/>
          </a:prstGeom>
        </p:spPr>
      </p:pic>
      <p:sp>
        <p:nvSpPr>
          <p:cNvPr id="11" name="Text 7"/>
          <p:cNvSpPr/>
          <p:nvPr/>
        </p:nvSpPr>
        <p:spPr>
          <a:xfrm>
            <a:off x="4668708" y="2658641"/>
            <a:ext cx="2940186" cy="360637"/>
          </a:xfrm>
          <a:prstGeom prst="rect">
            <a:avLst/>
          </a:prstGeom>
          <a:noFill/>
          <a:ln/>
        </p:spPr>
        <p:txBody>
          <a:bodyPr wrap="square" lIns="0" tIns="0" rIns="0" bIns="0" rtlCol="0" anchor="t">
            <a:normAutofit/>
          </a:bodyPr>
          <a:lstStyle/>
          <a:p>
            <a:pPr algn="l" indent="0" marL="0">
              <a:lnSpc>
                <a:spcPts val="2640"/>
              </a:lnSpc>
              <a:buNone/>
            </a:pPr>
            <a:r>
              <a:rPr lang="en-US" sz="2000" b="1" dirty="0">
                <a:solidFill>
                  <a:srgbClr val="1D1B18"/>
                </a:solidFill>
                <a:latin typeface="DM Sans" pitchFamily="34" charset="0"/>
                <a:ea typeface="DM Sans" pitchFamily="34" charset="-122"/>
                <a:cs typeface="DM Sans" pitchFamily="34" charset="-120"/>
              </a:rPr>
              <a:t>mlops_basics.ipynb</a:t>
            </a:r>
            <a:endParaRPr lang="en-US" sz="2200" dirty="0"/>
          </a:p>
        </p:txBody>
      </p:sp>
      <p:sp>
        <p:nvSpPr>
          <p:cNvPr id="12" name="Text 8"/>
          <p:cNvSpPr/>
          <p:nvPr/>
        </p:nvSpPr>
        <p:spPr>
          <a:xfrm>
            <a:off x="4668708" y="3095476"/>
            <a:ext cx="2940186" cy="5942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63E"/>
                </a:solidFill>
                <a:latin typeface="DM Sans" pitchFamily="34" charset="0"/>
                <a:ea typeface="DM Sans" pitchFamily="34" charset="-122"/>
                <a:cs typeface="DM Sans" pitchFamily="34" charset="-120"/>
              </a:rPr>
              <a:t>The five big steps, with short TODOs and plain words.</a:t>
            </a:r>
            <a:endParaRPr lang="en-US" sz="1600" dirty="0"/>
          </a:p>
        </p:txBody>
      </p:sp>
      <p:sp>
        <p:nvSpPr>
          <p:cNvPr id="13" name="Text 9"/>
          <p:cNvSpPr/>
          <p:nvPr/>
        </p:nvSpPr>
        <p:spPr>
          <a:xfrm>
            <a:off x="4668708" y="3765947"/>
            <a:ext cx="2940186"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1B18"/>
                </a:solidFill>
                <a:latin typeface="DM Sans" pitchFamily="34" charset="0"/>
                <a:ea typeface="DM Sans" pitchFamily="34" charset="-122"/>
                <a:cs typeface="DM Sans" pitchFamily="34" charset="-120"/>
              </a:rPr>
              <a:t>Good for:</a:t>
            </a:r>
            <a:r>
              <a:rPr lang="en-US" sz="1200" dirty="0">
                <a:solidFill>
                  <a:srgbClr val="6B665C"/>
                </a:solidFill>
                <a:latin typeface="DM Sans" pitchFamily="34" charset="0"/>
                <a:ea typeface="DM Sans" pitchFamily="34" charset="-122"/>
                <a:cs typeface="DM Sans" pitchFamily="34" charset="-120"/>
              </a:rPr>
              <a:t> new to data science</a:t>
            </a:r>
            <a:endParaRPr lang="en-US" sz="1200" dirty="0"/>
          </a:p>
        </p:txBody>
      </p:sp>
      <p:sp>
        <p:nvSpPr>
          <p:cNvPr id="14" name="Shape 10"/>
          <p:cNvSpPr/>
          <p:nvPr/>
        </p:nvSpPr>
        <p:spPr>
          <a:xfrm>
            <a:off x="7998856" y="1941761"/>
            <a:ext cx="3373972" cy="2581676"/>
          </a:xfrm>
          <a:prstGeom prst="roundRect">
            <a:avLst>
              <a:gd name="adj" fmla="val 4673"/>
            </a:avLst>
          </a:prstGeom>
          <a:solidFill>
            <a:srgbClr val="FFFDF8"/>
          </a:solidFill>
          <a:ln w="12700">
            <a:solidFill>
              <a:srgbClr val="CFB87C"/>
            </a:solidFill>
            <a:prstDash val="solid"/>
          </a:ln>
        </p:spPr>
      </p:sp>
      <p:pic>
        <p:nvPicPr>
          <p:cNvPr id="15" name="Image 2" descr="Cloud">    </p:cNvPr>
          <p:cNvPicPr>
            <a:picLocks noChangeAspect="1"/>
          </p:cNvPicPr>
          <p:nvPr/>
        </p:nvPicPr>
        <p:blipFill>
          <a:blip r:embed="rId3"/>
          <a:srcRect l="0" r="0" t="0" b="0"/>
          <a:stretch/>
        </p:blipFill>
        <p:spPr>
          <a:xfrm>
            <a:off x="8258566" y="2201472"/>
            <a:ext cx="355578" cy="355578"/>
          </a:xfrm>
          <a:prstGeom prst="rect">
            <a:avLst/>
          </a:prstGeom>
        </p:spPr>
      </p:pic>
      <p:sp>
        <p:nvSpPr>
          <p:cNvPr id="16" name="Text 11"/>
          <p:cNvSpPr/>
          <p:nvPr/>
        </p:nvSpPr>
        <p:spPr>
          <a:xfrm>
            <a:off x="8258566" y="2658641"/>
            <a:ext cx="2940186" cy="360637"/>
          </a:xfrm>
          <a:prstGeom prst="rect">
            <a:avLst/>
          </a:prstGeom>
          <a:noFill/>
          <a:ln/>
        </p:spPr>
        <p:txBody>
          <a:bodyPr wrap="square" lIns="0" tIns="0" rIns="0" bIns="0" rtlCol="0" anchor="t">
            <a:normAutofit/>
          </a:bodyPr>
          <a:lstStyle/>
          <a:p>
            <a:pPr algn="l" indent="0" marL="0">
              <a:lnSpc>
                <a:spcPts val="2640"/>
              </a:lnSpc>
              <a:buNone/>
            </a:pPr>
            <a:r>
              <a:rPr lang="en-US" sz="2000" b="1" dirty="0">
                <a:solidFill>
                  <a:srgbClr val="1D1B18"/>
                </a:solidFill>
                <a:latin typeface="DM Sans" pitchFamily="34" charset="0"/>
                <a:ea typeface="DM Sans" pitchFamily="34" charset="-122"/>
                <a:cs typeface="DM Sans" pitchFamily="34" charset="-120"/>
              </a:rPr>
              <a:t>mlops_pipeline.ipynb</a:t>
            </a:r>
            <a:endParaRPr lang="en-US" sz="2200" dirty="0"/>
          </a:p>
        </p:txBody>
      </p:sp>
      <p:sp>
        <p:nvSpPr>
          <p:cNvPr id="17" name="Text 12"/>
          <p:cNvSpPr/>
          <p:nvPr/>
        </p:nvSpPr>
        <p:spPr>
          <a:xfrm>
            <a:off x="8258566" y="3095476"/>
            <a:ext cx="2940186" cy="878719"/>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63E"/>
                </a:solidFill>
                <a:latin typeface="DM Sans" pitchFamily="34" charset="0"/>
                <a:ea typeface="DM Sans" pitchFamily="34" charset="-122"/>
                <a:cs typeface="DM Sans" pitchFamily="34" charset="-120"/>
              </a:rPr>
              <a:t>Registry, gate, API, pipeline, rollback, shadow and canary, drift, weekly job.</a:t>
            </a:r>
            <a:endParaRPr lang="en-US" sz="1600" dirty="0"/>
          </a:p>
        </p:txBody>
      </p:sp>
      <p:sp>
        <p:nvSpPr>
          <p:cNvPr id="18" name="Text 13"/>
          <p:cNvSpPr/>
          <p:nvPr/>
        </p:nvSpPr>
        <p:spPr>
          <a:xfrm>
            <a:off x="8258566" y="4050388"/>
            <a:ext cx="2940186"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1B18"/>
                </a:solidFill>
                <a:latin typeface="DM Sans" pitchFamily="34" charset="0"/>
                <a:ea typeface="DM Sans" pitchFamily="34" charset="-122"/>
                <a:cs typeface="DM Sans" pitchFamily="34" charset="-120"/>
              </a:rPr>
              <a:t>Good for:</a:t>
            </a:r>
            <a:r>
              <a:rPr lang="en-US" sz="1200" dirty="0">
                <a:solidFill>
                  <a:srgbClr val="6B665C"/>
                </a:solidFill>
                <a:latin typeface="DM Sans" pitchFamily="34" charset="0"/>
                <a:ea typeface="DM Sans" pitchFamily="34" charset="-122"/>
                <a:cs typeface="DM Sans" pitchFamily="34" charset="-120"/>
              </a:rPr>
              <a:t> the full MLOps loop</a:t>
            </a:r>
            <a:endParaRPr lang="en-US" sz="1200" dirty="0"/>
          </a:p>
        </p:txBody>
      </p:sp>
      <p:sp>
        <p:nvSpPr>
          <p:cNvPr id="19" name="Text 14"/>
          <p:cNvSpPr/>
          <p:nvPr/>
        </p:nvSpPr>
        <p:spPr>
          <a:xfrm>
            <a:off x="812788" y="4834570"/>
            <a:ext cx="1088338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63E"/>
                </a:solidFill>
                <a:latin typeface="JetBrains Mono" pitchFamily="49" charset="0"/>
                <a:ea typeface="JetBrains Mono" pitchFamily="49" charset="-122"/>
                <a:cs typeface="JetBrains Mono" pitchFamily="49" charset="-120"/>
              </a:rPr>
              <a:t>python make_data.py  →  train_model.ipynb  →  mlops_basics.ipynb or mlops_pipeline.ipynb</a:t>
            </a:r>
            <a:endParaRPr lang="en-US" sz="1400" dirty="0"/>
          </a:p>
        </p:txBody>
      </p:sp>
      <p:sp>
        <p:nvSpPr>
          <p:cNvPr id="20" name="Text 15"/>
          <p:cNvSpPr/>
          <p:nvPr/>
        </p:nvSpPr>
        <p:spPr>
          <a:xfrm>
            <a:off x="812788" y="6238273"/>
            <a:ext cx="6540485"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65C"/>
                </a:solidFill>
                <a:latin typeface="DM Sans" pitchFamily="34" charset="0"/>
                <a:ea typeface="DM Sans" pitchFamily="34" charset="-122"/>
                <a:cs typeface="DM Sans" pitchFamily="34" charset="-120"/>
              </a:rPr>
              <a:t>5350 Applied Deep Learning · MLOps</a:t>
            </a:r>
            <a:endParaRPr lang="en-US" sz="1200" dirty="0"/>
          </a:p>
        </p:txBody>
      </p:sp>
      <p:sp>
        <p:nvSpPr>
          <p:cNvPr id="21" name="Text 16"/>
          <p:cNvSpPr/>
          <p:nvPr/>
        </p:nvSpPr>
        <p:spPr>
          <a:xfrm>
            <a:off x="10058381" y="6238273"/>
            <a:ext cx="1320797"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65C"/>
                </a:solidFill>
                <a:latin typeface="DM Sans" pitchFamily="34" charset="0"/>
                <a:ea typeface="DM Sans" pitchFamily="34" charset="-122"/>
                <a:cs typeface="DM Sans" pitchFamily="34" charset="-120"/>
              </a:rPr>
              <a:t>15</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788" y="812788"/>
            <a:ext cx="10883382" cy="238739"/>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A5C12"/>
                </a:solidFill>
                <a:latin typeface="DM Sans" pitchFamily="34" charset="0"/>
                <a:ea typeface="DM Sans" pitchFamily="34" charset="-122"/>
                <a:cs typeface="DM Sans" pitchFamily="34" charset="-120"/>
              </a:rPr>
              <a:t>IN THE LAB</a:t>
            </a:r>
            <a:endParaRPr lang="en-US" sz="1200" dirty="0"/>
          </a:p>
        </p:txBody>
      </p:sp>
      <p:sp>
        <p:nvSpPr>
          <p:cNvPr id="3" name="Text 1"/>
          <p:cNvSpPr/>
          <p:nvPr>
            <p:ph type="title"/>
          </p:nvPr>
        </p:nvSpPr>
        <p:spPr>
          <a:xfrm>
            <a:off x="812788" y="1127720"/>
            <a:ext cx="10883382" cy="528312"/>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1B18"/>
                </a:solidFill>
                <a:latin typeface="DM Sans" pitchFamily="34" charset="0"/>
                <a:ea typeface="DM Sans" pitchFamily="34" charset="-122"/>
                <a:cs typeface="DM Sans" pitchFamily="34" charset="-120"/>
              </a:rPr>
              <a:t>What the notebooks will show you</a:t>
            </a:r>
            <a:endParaRPr lang="en-US" sz="3600" dirty="0"/>
          </a:p>
        </p:txBody>
      </p:sp>
      <p:sp>
        <p:nvSpPr>
          <p:cNvPr id="4" name="Shape 2"/>
          <p:cNvSpPr/>
          <p:nvPr/>
        </p:nvSpPr>
        <p:spPr>
          <a:xfrm>
            <a:off x="819138" y="1941764"/>
            <a:ext cx="5168882" cy="2393811"/>
          </a:xfrm>
          <a:prstGeom prst="roundRect">
            <a:avLst>
              <a:gd name="adj" fmla="val 5040"/>
            </a:avLst>
          </a:prstGeom>
          <a:solidFill>
            <a:srgbClr val="FFFDF8"/>
          </a:solidFill>
          <a:ln w="12700">
            <a:solidFill>
              <a:srgbClr val="E2DCCB"/>
            </a:solidFill>
            <a:prstDash val="solid"/>
          </a:ln>
        </p:spPr>
      </p:sp>
      <p:sp>
        <p:nvSpPr>
          <p:cNvPr id="5" name="Text 3"/>
          <p:cNvSpPr/>
          <p:nvPr/>
        </p:nvSpPr>
        <p:spPr>
          <a:xfrm>
            <a:off x="1078848" y="2201475"/>
            <a:ext cx="4788945" cy="36063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D1B18"/>
                </a:solidFill>
                <a:latin typeface="DM Sans" pitchFamily="34" charset="0"/>
                <a:ea typeface="DM Sans" pitchFamily="34" charset="-122"/>
                <a:cs typeface="DM Sans" pitchFamily="34" charset="-120"/>
              </a:rPr>
              <a:t>The accuracy trap, automated</a:t>
            </a:r>
            <a:endParaRPr lang="en-US" sz="2200" dirty="0"/>
          </a:p>
        </p:txBody>
      </p:sp>
      <p:sp>
        <p:nvSpPr>
          <p:cNvPr id="6" name="Text 4"/>
          <p:cNvSpPr/>
          <p:nvPr/>
        </p:nvSpPr>
        <p:spPr>
          <a:xfrm>
            <a:off x="1078848" y="2638304"/>
            <a:ext cx="4788945"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63E"/>
                </a:solidFill>
                <a:latin typeface="DM Sans" pitchFamily="34" charset="0"/>
                <a:ea typeface="DM Sans" pitchFamily="34" charset="-122"/>
                <a:cs typeface="DM Sans" pitchFamily="34" charset="-120"/>
              </a:rPr>
              <a:t>v1 against a gate that only checks accuracy ≥ 85%</a:t>
            </a:r>
            <a:endParaRPr lang="en-US" sz="1200" dirty="0"/>
          </a:p>
        </p:txBody>
      </p:sp>
      <p:sp>
        <p:nvSpPr>
          <p:cNvPr id="7" name="Text 5"/>
          <p:cNvSpPr/>
          <p:nvPr/>
        </p:nvSpPr>
        <p:spPr>
          <a:xfrm>
            <a:off x="1078848" y="2953237"/>
            <a:ext cx="2315991" cy="695949"/>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1D1B18"/>
                </a:solidFill>
                <a:latin typeface="DM Sans" pitchFamily="34" charset="0"/>
                <a:ea typeface="DM Sans" pitchFamily="34" charset="-122"/>
                <a:cs typeface="DM Sans" pitchFamily="34" charset="-120"/>
              </a:rPr>
              <a:t>85.6%</a:t>
            </a:r>
            <a:endParaRPr lang="en-US" sz="4800" dirty="0"/>
          </a:p>
        </p:txBody>
      </p:sp>
      <p:sp>
        <p:nvSpPr>
          <p:cNvPr id="8" name="Text 6"/>
          <p:cNvSpPr/>
          <p:nvPr/>
        </p:nvSpPr>
        <p:spPr>
          <a:xfrm>
            <a:off x="1078848" y="3649185"/>
            <a:ext cx="2315991"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63E"/>
                </a:solidFill>
                <a:latin typeface="DM Sans" pitchFamily="34" charset="0"/>
                <a:ea typeface="DM Sans" pitchFamily="34" charset="-122"/>
                <a:cs typeface="DM Sans" pitchFamily="34" charset="-120"/>
              </a:rPr>
              <a:t>accuracy: passes the gate</a:t>
            </a:r>
            <a:endParaRPr lang="en-US" sz="1200" dirty="0"/>
          </a:p>
        </p:txBody>
      </p:sp>
      <p:sp>
        <p:nvSpPr>
          <p:cNvPr id="9" name="Text 7"/>
          <p:cNvSpPr/>
          <p:nvPr/>
        </p:nvSpPr>
        <p:spPr>
          <a:xfrm>
            <a:off x="3479774" y="2953237"/>
            <a:ext cx="2315991" cy="695949"/>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A3361F"/>
                </a:solidFill>
                <a:latin typeface="DM Sans" pitchFamily="34" charset="0"/>
                <a:ea typeface="DM Sans" pitchFamily="34" charset="-122"/>
                <a:cs typeface="DM Sans" pitchFamily="34" charset="-120"/>
              </a:rPr>
              <a:t>4%</a:t>
            </a:r>
            <a:endParaRPr lang="en-US" sz="4800" dirty="0"/>
          </a:p>
        </p:txBody>
      </p:sp>
      <p:sp>
        <p:nvSpPr>
          <p:cNvPr id="10" name="Text 8"/>
          <p:cNvSpPr/>
          <p:nvPr/>
        </p:nvSpPr>
        <p:spPr>
          <a:xfrm>
            <a:off x="3479774" y="3649185"/>
            <a:ext cx="2315991" cy="45207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3361F"/>
                </a:solidFill>
                <a:latin typeface="DM Sans" pitchFamily="34" charset="0"/>
                <a:ea typeface="DM Sans" pitchFamily="34" charset="-122"/>
                <a:cs typeface="DM Sans" pitchFamily="34" charset="-120"/>
              </a:rPr>
              <a:t>spam recall: 3 of 75 caught</a:t>
            </a:r>
            <a:endParaRPr lang="en-US" sz="1200" dirty="0"/>
          </a:p>
        </p:txBody>
      </p:sp>
      <p:sp>
        <p:nvSpPr>
          <p:cNvPr id="11" name="Shape 9"/>
          <p:cNvSpPr/>
          <p:nvPr/>
        </p:nvSpPr>
        <p:spPr>
          <a:xfrm>
            <a:off x="6203907" y="1941764"/>
            <a:ext cx="5168920" cy="2393811"/>
          </a:xfrm>
          <a:prstGeom prst="roundRect">
            <a:avLst>
              <a:gd name="adj" fmla="val 5040"/>
            </a:avLst>
          </a:prstGeom>
          <a:solidFill>
            <a:srgbClr val="FFFDF8"/>
          </a:solidFill>
          <a:ln w="12700">
            <a:solidFill>
              <a:srgbClr val="CFB87C"/>
            </a:solidFill>
            <a:prstDash val="solid"/>
          </a:ln>
        </p:spPr>
      </p:sp>
      <p:sp>
        <p:nvSpPr>
          <p:cNvPr id="12" name="Text 10"/>
          <p:cNvSpPr/>
          <p:nvPr/>
        </p:nvSpPr>
        <p:spPr>
          <a:xfrm>
            <a:off x="6463618" y="2201475"/>
            <a:ext cx="4788983" cy="36063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D1B18"/>
                </a:solidFill>
                <a:latin typeface="DM Sans" pitchFamily="34" charset="0"/>
                <a:ea typeface="DM Sans" pitchFamily="34" charset="-122"/>
                <a:cs typeface="DM Sans" pitchFamily="34" charset="-120"/>
              </a:rPr>
              <a:t>Drift week</a:t>
            </a:r>
            <a:endParaRPr lang="en-US" sz="2200" dirty="0"/>
          </a:p>
        </p:txBody>
      </p:sp>
      <p:sp>
        <p:nvSpPr>
          <p:cNvPr id="13" name="Text 11"/>
          <p:cNvSpPr/>
          <p:nvPr/>
        </p:nvSpPr>
        <p:spPr>
          <a:xfrm>
            <a:off x="6463618" y="2638304"/>
            <a:ext cx="4788983"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63E"/>
                </a:solidFill>
                <a:latin typeface="DM Sans" pitchFamily="34" charset="0"/>
                <a:ea typeface="DM Sans" pitchFamily="34" charset="-122"/>
                <a:cs typeface="DM Sans" pitchFamily="34" charset="-120"/>
              </a:rPr>
              <a:t>Spammers switch to short messages</a:t>
            </a:r>
            <a:endParaRPr lang="en-US" sz="1200" dirty="0"/>
          </a:p>
        </p:txBody>
      </p:sp>
      <p:sp>
        <p:nvSpPr>
          <p:cNvPr id="14" name="Text 12"/>
          <p:cNvSpPr/>
          <p:nvPr/>
        </p:nvSpPr>
        <p:spPr>
          <a:xfrm>
            <a:off x="6463618" y="2953237"/>
            <a:ext cx="2315991" cy="695949"/>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1D1B18"/>
                </a:solidFill>
                <a:latin typeface="DM Sans" pitchFamily="34" charset="0"/>
                <a:ea typeface="DM Sans" pitchFamily="34" charset="-122"/>
                <a:cs typeface="DM Sans" pitchFamily="34" charset="-120"/>
              </a:rPr>
              <a:t>−53%</a:t>
            </a:r>
            <a:endParaRPr lang="en-US" sz="4800" dirty="0"/>
          </a:p>
        </p:txBody>
      </p:sp>
      <p:sp>
        <p:nvSpPr>
          <p:cNvPr id="15" name="Text 13"/>
          <p:cNvSpPr/>
          <p:nvPr/>
        </p:nvSpPr>
        <p:spPr>
          <a:xfrm>
            <a:off x="6463618" y="3649185"/>
            <a:ext cx="2315991"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63E"/>
                </a:solidFill>
                <a:latin typeface="DM Sans" pitchFamily="34" charset="0"/>
                <a:ea typeface="DM Sans" pitchFamily="34" charset="-122"/>
                <a:cs typeface="DM Sans" pitchFamily="34" charset="-120"/>
              </a:rPr>
              <a:t>average message length</a:t>
            </a:r>
            <a:endParaRPr lang="en-US" sz="1200" dirty="0"/>
          </a:p>
        </p:txBody>
      </p:sp>
      <p:sp>
        <p:nvSpPr>
          <p:cNvPr id="16" name="Text 14"/>
          <p:cNvSpPr/>
          <p:nvPr/>
        </p:nvSpPr>
        <p:spPr>
          <a:xfrm>
            <a:off x="8864544" y="2953237"/>
            <a:ext cx="2316030" cy="695949"/>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A3361F"/>
                </a:solidFill>
                <a:latin typeface="DM Sans" pitchFamily="34" charset="0"/>
                <a:ea typeface="DM Sans" pitchFamily="34" charset="-122"/>
                <a:cs typeface="DM Sans" pitchFamily="34" charset="-120"/>
              </a:rPr>
              <a:t>1.6%</a:t>
            </a:r>
            <a:endParaRPr lang="en-US" sz="4800" dirty="0"/>
          </a:p>
        </p:txBody>
      </p:sp>
      <p:sp>
        <p:nvSpPr>
          <p:cNvPr id="17" name="Text 15"/>
          <p:cNvSpPr/>
          <p:nvPr/>
        </p:nvSpPr>
        <p:spPr>
          <a:xfrm>
            <a:off x="8864544" y="3649185"/>
            <a:ext cx="2316030" cy="238739"/>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3361F"/>
                </a:solidFill>
                <a:latin typeface="DM Sans" pitchFamily="34" charset="0"/>
                <a:ea typeface="DM Sans" pitchFamily="34" charset="-122"/>
                <a:cs typeface="DM Sans" pitchFamily="34" charset="-120"/>
              </a:rPr>
              <a:t>spam recall in production</a:t>
            </a:r>
            <a:endParaRPr lang="en-US" sz="1200" dirty="0"/>
          </a:p>
        </p:txBody>
      </p:sp>
      <p:sp>
        <p:nvSpPr>
          <p:cNvPr id="18" name="Text 16"/>
          <p:cNvSpPr/>
          <p:nvPr/>
        </p:nvSpPr>
        <p:spPr>
          <a:xfrm>
            <a:off x="812788" y="4646706"/>
            <a:ext cx="10883382" cy="309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63E"/>
                </a:solidFill>
                <a:latin typeface="DM Sans" pitchFamily="34" charset="0"/>
                <a:ea typeface="DM Sans" pitchFamily="34" charset="-122"/>
                <a:cs typeface="DM Sans" pitchFamily="34" charset="-120"/>
              </a:rPr>
              <a:t>A bad-data week is </a:t>
            </a:r>
            <a:r>
              <a:rPr lang="en-US" sz="1600" b="1" dirty="0">
                <a:solidFill>
                  <a:srgbClr val="1D1B18"/>
                </a:solidFill>
                <a:latin typeface="DM Sans" pitchFamily="34" charset="0"/>
                <a:ea typeface="DM Sans" pitchFamily="34" charset="-122"/>
                <a:cs typeface="DM Sans" pitchFamily="34" charset="-120"/>
              </a:rPr>
              <a:t>blocked by a recall rule and rolled back in one line</a:t>
            </a:r>
            <a:r>
              <a:rPr lang="en-US" sz="1600" dirty="0">
                <a:solidFill>
                  <a:srgbClr val="4A463E"/>
                </a:solidFill>
                <a:latin typeface="DM Sans" pitchFamily="34" charset="0"/>
                <a:ea typeface="DM Sans" pitchFamily="34" charset="-122"/>
                <a:cs typeface="DM Sans" pitchFamily="34" charset="-120"/>
              </a:rPr>
              <a:t>; shadow mode spots it with zero users affected.</a:t>
            </a:r>
            <a:endParaRPr lang="en-US" sz="1600" dirty="0"/>
          </a:p>
        </p:txBody>
      </p:sp>
      <p:sp>
        <p:nvSpPr>
          <p:cNvPr id="19" name="Text 17"/>
          <p:cNvSpPr/>
          <p:nvPr/>
        </p:nvSpPr>
        <p:spPr>
          <a:xfrm>
            <a:off x="812788" y="6238277"/>
            <a:ext cx="6540485" cy="23873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65C"/>
                </a:solidFill>
                <a:latin typeface="DM Sans" pitchFamily="34" charset="0"/>
                <a:ea typeface="DM Sans" pitchFamily="34" charset="-122"/>
                <a:cs typeface="DM Sans" pitchFamily="34" charset="-120"/>
              </a:rPr>
              <a:t>5350 Applied Deep Learning · MLOps</a:t>
            </a:r>
            <a:endParaRPr lang="en-US" sz="1200" dirty="0"/>
          </a:p>
        </p:txBody>
      </p:sp>
      <p:sp>
        <p:nvSpPr>
          <p:cNvPr id="20" name="Text 18"/>
          <p:cNvSpPr/>
          <p:nvPr/>
        </p:nvSpPr>
        <p:spPr>
          <a:xfrm>
            <a:off x="10058381" y="6238277"/>
            <a:ext cx="1320797" cy="238739"/>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65C"/>
                </a:solidFill>
                <a:latin typeface="DM Sans" pitchFamily="34" charset="0"/>
                <a:ea typeface="DM Sans" pitchFamily="34" charset="-122"/>
                <a:cs typeface="DM Sans" pitchFamily="34" charset="-120"/>
              </a:rPr>
              <a:t>16</a:t>
            </a:r>
            <a:endParaRPr lang="en-US" sz="1200" dirty="0"/>
          </a:p>
        </p:txBody>
      </p:sp>
    </p:spTree>
  </p:cSld>
  <p:clrMapOvr>
    <a:masterClrMapping/>
  </p:clrMapOvr>
</p:sld>
</file>

<file path=ppt/theme/theme1.xml><?xml version="1.0" encoding="utf-8"?>
<a:theme xmlns:a="http://schemas.openxmlformats.org/drawingml/2006/main" name="MLOps 101">
  <a:themeElements>
    <a:clrScheme name="MLOps 101">
      <a:dk1>
        <a:srgbClr val="1D1B18"/>
      </a:dk1>
      <a:lt1>
        <a:srgbClr val="F7F5EF"/>
      </a:lt1>
      <a:dk2>
        <a:srgbClr val="54524E"/>
      </a:dk2>
      <a:lt2>
        <a:srgbClr val="E1DFDA"/>
      </a:lt2>
      <a:accent1>
        <a:srgbClr val="7A5C12"/>
      </a:accent1>
      <a:accent2>
        <a:srgbClr val="CFB87C"/>
      </a:accent2>
      <a:accent3>
        <a:srgbClr val="A3361F"/>
      </a:accent3>
      <a:accent4>
        <a:srgbClr val="2F6B3A"/>
      </a:accent4>
      <a:accent5>
        <a:srgbClr val="4A463E"/>
      </a:accent5>
      <a:accent6>
        <a:srgbClr val="6B665C"/>
      </a:accent6>
      <a:hlink>
        <a:srgbClr val="0563C1"/>
      </a:hlink>
      <a:folHlink>
        <a:srgbClr val="954F72"/>
      </a:folHlink>
    </a:clrScheme>
    <a:fontScheme name="MLOps 101">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MLOps 101</dc:title>
  <dc:subject/>
  <dc:creator/>
  <cp:lastModifiedBy/>
  <cp:revision>1</cp:revision>
  <dcterms:created xsi:type="dcterms:W3CDTF">2026-10-16T13:51:26Z</dcterms:created>
  <dcterms:modified xsi:type="dcterms:W3CDTF">2026-10-16T13:51:26Z</dcterms:modified>
</cp:coreProperties>
</file>